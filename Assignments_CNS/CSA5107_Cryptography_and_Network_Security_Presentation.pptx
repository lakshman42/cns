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58" r:id="rId5"/>
    <p:sldId id="259" r:id="rId6"/>
    <p:sldId id="261" r:id="rId7"/>
    <p:sldId id="279" r:id="rId8"/>
    <p:sldId id="288" r:id="rId26"/>
    <p:sldId id="287" r:id="rId25"/>
    <p:sldId id="286" r:id="rId9"/>
    <p:sldId id="262" r:id="rId10"/>
    <p:sldId id="280" r:id="rId11"/>
    <p:sldId id="281" r:id="rId12"/>
    <p:sldId id="282" r:id="rId13"/>
    <p:sldId id="291" r:id="rId29"/>
    <p:sldId id="290" r:id="rId28"/>
    <p:sldId id="289" r:id="rId27"/>
    <p:sldId id="285" r:id="rId14"/>
    <p:sldId id="274" r:id="rId15"/>
    <p:sldId id="276" r:id="rId16"/>
    <p:sldId id="277" r:id="rId17"/>
    <p:sldId id="278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C8D40C6-9C17-4964-A487-D5ACEADA6B0C}" v="11" dt="2026-02-03T07:25:19.136"/>
  </p1510:revLst>
</p1510:revInfo>
</file>

<file path=ppt/tableStyles.xml><?xml version="1.0" encoding="utf-8"?>
<a:tblStyleLst xmlns:a="http://schemas.openxmlformats.org/drawingml/2006/main" def="{5C22544A-7EE6-4342-B048-85BDC9FD1C3A}"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95" d="100"/>
          <a:sy n="95" d="100"/>
        </p:scale>
        <p:origin x="2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10.xml"/><Relationship Id="rId10" Type="http://schemas.openxmlformats.org/officeDocument/2006/relationships/slide" Target="slides/slide11.xml"/><Relationship Id="rId11" Type="http://schemas.openxmlformats.org/officeDocument/2006/relationships/slide" Target="slides/slide12.xml"/><Relationship Id="rId12" Type="http://schemas.openxmlformats.org/officeDocument/2006/relationships/slide" Target="slides/slide13.xml"/><Relationship Id="rId13" Type="http://schemas.openxmlformats.org/officeDocument/2006/relationships/slide" Target="slides/slide14.xml"/><Relationship Id="rId14" Type="http://schemas.openxmlformats.org/officeDocument/2006/relationships/slide" Target="slides/slide15.xml"/><Relationship Id="rId15" Type="http://schemas.openxmlformats.org/officeDocument/2006/relationships/slide" Target="slides/slide16.xml"/><Relationship Id="rId16" Type="http://schemas.openxmlformats.org/officeDocument/2006/relationships/slide" Target="slides/slide17.xml"/><Relationship Id="rId17" Type="http://schemas.openxmlformats.org/officeDocument/2006/relationships/slide" Target="slides/slide18.xml"/><Relationship Id="rId18" Type="http://schemas.openxmlformats.org/officeDocument/2006/relationships/slide" Target="slides/slide19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23" Type="http://schemas.microsoft.com/office/2016/11/relationships/changesInfo" Target="changesInfos/changesInfo1.xml"/><Relationship Id="rId24" Type="http://schemas.microsoft.com/office/2015/10/relationships/revisionInfo" Target="revisionInfo.xml"/><Relationship Id="rId25" Type="http://schemas.openxmlformats.org/officeDocument/2006/relationships/slide" Target="slides/slide9.xml"/><Relationship Id="rId26" Type="http://schemas.openxmlformats.org/officeDocument/2006/relationships/slide" Target="slides/slide8.xml"/>  <Relationship Id="rId27" Type="http://schemas.openxmlformats.org/officeDocument/2006/relationships/slide" Target="slides/slide20.xml"/>
  <Relationship Id="rId28" Type="http://schemas.openxmlformats.org/officeDocument/2006/relationships/slide" Target="slides/slide21.xml"/>
  <Relationship Id="rId29" Type="http://schemas.openxmlformats.org/officeDocument/2006/relationships/slide" Target="slides/slide22.xml"/>
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nesh Abburi" userId="ae2190304c8bc6ad" providerId="LiveId" clId="{FB8C4902-EB0D-4384-A140-9C44D51DBDEC}"/>
    <pc:docChg chg="undo custSel modSld">
      <pc:chgData name="Ganesh Abburi" userId="ae2190304c8bc6ad" providerId="LiveId" clId="{FB8C4902-EB0D-4384-A140-9C44D51DBDEC}" dt="2026-02-03T07:25:38.606" v="71" actId="20577"/>
      <pc:docMkLst>
        <pc:docMk/>
      </pc:docMkLst>
      <pc:sldChg chg="modSp mod">
        <pc:chgData name="Ganesh Abburi" userId="ae2190304c8bc6ad" providerId="LiveId" clId="{FB8C4902-EB0D-4384-A140-9C44D51DBDEC}" dt="2026-02-03T07:25:38.606" v="71" actId="20577"/>
        <pc:sldMkLst>
          <pc:docMk/>
          <pc:sldMk cId="3913128992" sldId="256"/>
        </pc:sldMkLst>
        <pc:spChg chg="mod">
          <ac:chgData name="Ganesh Abburi" userId="ae2190304c8bc6ad" providerId="LiveId" clId="{FB8C4902-EB0D-4384-A140-9C44D51DBDEC}" dt="2026-02-03T07:25:38.606" v="71" actId="20577"/>
          <ac:spMkLst>
            <pc:docMk/>
            <pc:sldMk cId="3913128992" sldId="256"/>
            <ac:spMk id="5" creationId="{CFF53902-9ACB-4D4A-A8CF-BD1A2720A3B0}"/>
          </ac:spMkLst>
        </pc:spChg>
        <pc:spChg chg="mod">
          <ac:chgData name="Ganesh Abburi" userId="ae2190304c8bc6ad" providerId="LiveId" clId="{FB8C4902-EB0D-4384-A140-9C44D51DBDEC}" dt="2026-02-03T07:25:26.204" v="69" actId="14100"/>
          <ac:spMkLst>
            <pc:docMk/>
            <pc:sldMk cId="3913128992" sldId="256"/>
            <ac:spMk id="9" creationId="{E0C49EBB-6D3A-42F9-879D-2AFD2A1EB32A}"/>
          </ac:spMkLst>
        </pc:spChg>
      </pc:sldChg>
      <pc:sldChg chg="modSp mod">
        <pc:chgData name="Ganesh Abburi" userId="ae2190304c8bc6ad" providerId="LiveId" clId="{FB8C4902-EB0D-4384-A140-9C44D51DBDEC}" dt="2026-02-03T07:23:58.338" v="47" actId="14100"/>
        <pc:sldMkLst>
          <pc:docMk/>
          <pc:sldMk cId="1421369617" sldId="257"/>
        </pc:sldMkLst>
        <pc:picChg chg="mod">
          <ac:chgData name="Ganesh Abburi" userId="ae2190304c8bc6ad" providerId="LiveId" clId="{FB8C4902-EB0D-4384-A140-9C44D51DBDEC}" dt="2026-02-03T07:23:58.338" v="47" actId="14100"/>
          <ac:picMkLst>
            <pc:docMk/>
            <pc:sldMk cId="1421369617" sldId="257"/>
            <ac:picMk id="3" creationId="{BD4808C3-B108-4B3B-8FD0-ADFDEB68F1FA}"/>
          </ac:picMkLst>
        </pc:picChg>
      </pc:sldChg>
      <pc:sldChg chg="delSp mod">
        <pc:chgData name="Ganesh Abburi" userId="ae2190304c8bc6ad" providerId="LiveId" clId="{FB8C4902-EB0D-4384-A140-9C44D51DBDEC}" dt="2026-02-03T07:21:39.709" v="46" actId="478"/>
        <pc:sldMkLst>
          <pc:docMk/>
          <pc:sldMk cId="3061872393" sldId="261"/>
        </pc:sldMkLst>
        <pc:picChg chg="del">
          <ac:chgData name="Ganesh Abburi" userId="ae2190304c8bc6ad" providerId="LiveId" clId="{FB8C4902-EB0D-4384-A140-9C44D51DBDEC}" dt="2026-02-03T07:21:39.709" v="46" actId="478"/>
          <ac:picMkLst>
            <pc:docMk/>
            <pc:sldMk cId="3061872393" sldId="261"/>
            <ac:picMk id="2" creationId="{A855FEA1-3F53-40C3-9AD7-A969BB840441}"/>
          </ac:picMkLst>
        </pc:picChg>
      </pc:sldChg>
      <pc:sldChg chg="modSp mod">
        <pc:chgData name="Ganesh Abburi" userId="ae2190304c8bc6ad" providerId="LiveId" clId="{FB8C4902-EB0D-4384-A140-9C44D51DBDEC}" dt="2026-02-03T07:20:58.220" v="39" actId="122"/>
        <pc:sldMkLst>
          <pc:docMk/>
          <pc:sldMk cId="1380503728" sldId="275"/>
        </pc:sldMkLst>
        <pc:spChg chg="mod">
          <ac:chgData name="Ganesh Abburi" userId="ae2190304c8bc6ad" providerId="LiveId" clId="{FB8C4902-EB0D-4384-A140-9C44D51DBDEC}" dt="2026-02-03T07:20:58.220" v="39" actId="122"/>
          <ac:spMkLst>
            <pc:docMk/>
            <pc:sldMk cId="1380503728" sldId="275"/>
            <ac:spMk id="5" creationId="{CF961F89-45DB-4203-B5A7-D586E841E889}"/>
          </ac:spMkLst>
        </pc:spChg>
      </pc:sldChg>
      <pc:sldChg chg="modSp mod">
        <pc:chgData name="Ganesh Abburi" userId="ae2190304c8bc6ad" providerId="LiveId" clId="{FB8C4902-EB0D-4384-A140-9C44D51DBDEC}" dt="2026-02-03T07:21:20.801" v="44" actId="1076"/>
        <pc:sldMkLst>
          <pc:docMk/>
          <pc:sldMk cId="2969905346" sldId="277"/>
        </pc:sldMkLst>
        <pc:spChg chg="mod">
          <ac:chgData name="Ganesh Abburi" userId="ae2190304c8bc6ad" providerId="LiveId" clId="{FB8C4902-EB0D-4384-A140-9C44D51DBDEC}" dt="2026-02-03T07:21:20.801" v="44" actId="1076"/>
          <ac:spMkLst>
            <pc:docMk/>
            <pc:sldMk cId="2969905346" sldId="277"/>
            <ac:spMk id="4" creationId="{F86BB18F-BA07-46FE-A606-D0996AE4ED63}"/>
          </ac:spMkLst>
        </pc:spChg>
      </pc:sldChg>
      <pc:sldChg chg="modSp mod">
        <pc:chgData name="Ganesh Abburi" userId="ae2190304c8bc6ad" providerId="LiveId" clId="{FB8C4902-EB0D-4384-A140-9C44D51DBDEC}" dt="2026-02-03T07:21:32.831" v="45" actId="1076"/>
        <pc:sldMkLst>
          <pc:docMk/>
          <pc:sldMk cId="640054112" sldId="279"/>
        </pc:sldMkLst>
        <pc:spChg chg="mod">
          <ac:chgData name="Ganesh Abburi" userId="ae2190304c8bc6ad" providerId="LiveId" clId="{FB8C4902-EB0D-4384-A140-9C44D51DBDEC}" dt="2026-02-03T07:21:32.831" v="45" actId="1076"/>
          <ac:spMkLst>
            <pc:docMk/>
            <pc:sldMk cId="640054112" sldId="279"/>
            <ac:spMk id="3" creationId="{F6CFA67B-CF9A-DEBF-3714-FCD4718FC0E6}"/>
          </ac:spMkLst>
        </pc:spChg>
      </pc:sldChg>
      <pc:sldChg chg="addSp delSp modSp mod">
        <pc:chgData name="Ganesh Abburi" userId="ae2190304c8bc6ad" providerId="LiveId" clId="{FB8C4902-EB0D-4384-A140-9C44D51DBDEC}" dt="2026-02-03T07:18:48.864" v="24" actId="478"/>
        <pc:sldMkLst>
          <pc:docMk/>
          <pc:sldMk cId="3517403668" sldId="283"/>
        </pc:sldMkLst>
        <pc:spChg chg="mod">
          <ac:chgData name="Ganesh Abburi" userId="ae2190304c8bc6ad" providerId="LiveId" clId="{FB8C4902-EB0D-4384-A140-9C44D51DBDEC}" dt="2026-02-03T07:17:54.415" v="15" actId="1076"/>
          <ac:spMkLst>
            <pc:docMk/>
            <pc:sldMk cId="3517403668" sldId="283"/>
            <ac:spMk id="2" creationId="{E25BF9A5-DD4D-5F4A-5EDB-D23F4074339D}"/>
          </ac:spMkLst>
        </pc:spChg>
        <pc:spChg chg="add del mod">
          <ac:chgData name="Ganesh Abburi" userId="ae2190304c8bc6ad" providerId="LiveId" clId="{FB8C4902-EB0D-4384-A140-9C44D51DBDEC}" dt="2026-02-03T07:18:48.864" v="24" actId="478"/>
          <ac:spMkLst>
            <pc:docMk/>
            <pc:sldMk cId="3517403668" sldId="283"/>
            <ac:spMk id="3" creationId="{666AB19A-ED43-4055-41E6-E67CC959BC24}"/>
          </ac:spMkLst>
        </pc:spChg>
        <pc:picChg chg="del">
          <ac:chgData name="Ganesh Abburi" userId="ae2190304c8bc6ad" providerId="LiveId" clId="{FB8C4902-EB0D-4384-A140-9C44D51DBDEC}" dt="2026-02-03T07:15:18.841" v="10" actId="478"/>
          <ac:picMkLst>
            <pc:docMk/>
            <pc:sldMk cId="3517403668" sldId="283"/>
            <ac:picMk id="5" creationId="{7E3B01F0-803B-F4DC-5A6B-477C38FA91B1}"/>
          </ac:picMkLst>
        </pc:picChg>
        <pc:picChg chg="add mod">
          <ac:chgData name="Ganesh Abburi" userId="ae2190304c8bc6ad" providerId="LiveId" clId="{FB8C4902-EB0D-4384-A140-9C44D51DBDEC}" dt="2026-02-03T07:18:05.390" v="17" actId="14100"/>
          <ac:picMkLst>
            <pc:docMk/>
            <pc:sldMk cId="3517403668" sldId="283"/>
            <ac:picMk id="5122" creationId="{7A783E5C-1686-0E8F-83C3-056539F4E9A9}"/>
          </ac:picMkLst>
        </pc:picChg>
      </pc:sldChg>
      <pc:sldChg chg="addSp delSp modSp mod">
        <pc:chgData name="Ganesh Abburi" userId="ae2190304c8bc6ad" providerId="LiveId" clId="{FB8C4902-EB0D-4384-A140-9C44D51DBDEC}" dt="2026-02-03T07:19:46.047" v="30" actId="14100"/>
        <pc:sldMkLst>
          <pc:docMk/>
          <pc:sldMk cId="2251318651" sldId="284"/>
        </pc:sldMkLst>
        <pc:spChg chg="mod">
          <ac:chgData name="Ganesh Abburi" userId="ae2190304c8bc6ad" providerId="LiveId" clId="{FB8C4902-EB0D-4384-A140-9C44D51DBDEC}" dt="2026-02-03T07:19:23.253" v="25" actId="1076"/>
          <ac:spMkLst>
            <pc:docMk/>
            <pc:sldMk cId="2251318651" sldId="284"/>
            <ac:spMk id="2" creationId="{256C0966-4C3C-F23C-4A6B-9FA77662619C}"/>
          </ac:spMkLst>
        </pc:spChg>
        <pc:picChg chg="add mod">
          <ac:chgData name="Ganesh Abburi" userId="ae2190304c8bc6ad" providerId="LiveId" clId="{FB8C4902-EB0D-4384-A140-9C44D51DBDEC}" dt="2026-02-03T07:19:46.047" v="30" actId="14100"/>
          <ac:picMkLst>
            <pc:docMk/>
            <pc:sldMk cId="2251318651" sldId="284"/>
            <ac:picMk id="3" creationId="{33B7FE41-B251-56C0-3BE2-139E7DFF0E9A}"/>
          </ac:picMkLst>
        </pc:picChg>
        <pc:picChg chg="del">
          <ac:chgData name="Ganesh Abburi" userId="ae2190304c8bc6ad" providerId="LiveId" clId="{FB8C4902-EB0D-4384-A140-9C44D51DBDEC}" dt="2026-02-03T07:19:24.813" v="26" actId="478"/>
          <ac:picMkLst>
            <pc:docMk/>
            <pc:sldMk cId="2251318651" sldId="284"/>
            <ac:picMk id="5" creationId="{4140DD7B-F858-6E5D-9D22-563FDCFE67E7}"/>
          </ac:picMkLst>
        </pc:picChg>
      </pc:sldChg>
      <pc:sldChg chg="addSp delSp modSp mod">
        <pc:chgData name="Ganesh Abburi" userId="ae2190304c8bc6ad" providerId="LiveId" clId="{FB8C4902-EB0D-4384-A140-9C44D51DBDEC}" dt="2026-02-03T07:20:10.998" v="34" actId="1076"/>
        <pc:sldMkLst>
          <pc:docMk/>
          <pc:sldMk cId="4214777664" sldId="285"/>
        </pc:sldMkLst>
        <pc:spChg chg="del mod">
          <ac:chgData name="Ganesh Abburi" userId="ae2190304c8bc6ad" providerId="LiveId" clId="{FB8C4902-EB0D-4384-A140-9C44D51DBDEC}" dt="2026-02-03T07:13:23.655" v="2"/>
          <ac:spMkLst>
            <pc:docMk/>
            <pc:sldMk cId="4214777664" sldId="285"/>
            <ac:spMk id="4" creationId="{1332A42B-E480-E96F-82FD-EA4B01FFA699}"/>
          </ac:spMkLst>
        </pc:spChg>
        <pc:spChg chg="add mod">
          <ac:chgData name="Ganesh Abburi" userId="ae2190304c8bc6ad" providerId="LiveId" clId="{FB8C4902-EB0D-4384-A140-9C44D51DBDEC}" dt="2026-02-03T07:20:10.998" v="34" actId="1076"/>
          <ac:spMkLst>
            <pc:docMk/>
            <pc:sldMk cId="4214777664" sldId="285"/>
            <ac:spMk id="11" creationId="{A230DA57-AA99-8964-0D0B-D38137C32273}"/>
          </ac:spMkLst>
        </pc:spChg>
      </pc:sld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1DDB1-2A2E-4300-8723-6AB7FAFD27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62A104-BA95-4DA7-86AE-5FD959EF7A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506865-7357-47B2-BCD9-5F7B81980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23671-3B8A-4F80-9A11-61DA1610CF33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14695C-936D-44B3-802B-2869AB92C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11EF07-2F10-4D7E-8876-2CE457E7C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4B09C-5148-4C4C-8EEA-E8023D760A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75136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FDA4F-AF04-46A1-9A12-386B11C0D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4133CA-1B29-4702-9C4F-AC65B13058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7B68D9-C74A-4271-8B45-A477B2D4C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23671-3B8A-4F80-9A11-61DA1610CF33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29D629-1514-4452-B441-0A7517C6A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5F300D-218C-4A4A-8BF9-6C43C98E8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4B09C-5148-4C4C-8EEA-E8023D760A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86921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7BB0D-7A38-4D9B-A3E2-DC2450392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D3DCB9-0484-4401-92D7-EDA8DDAD37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4EF31E-36A2-4C84-86A0-BA5DDED21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23671-3B8A-4F80-9A11-61DA1610CF33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D372FF-AA2F-4D52-91D7-9CC495A7D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21F290-5A57-4F0C-857F-7DAB7AD11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4B09C-5148-4C4C-8EEA-E8023D760A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20489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2525F-D9E9-476C-93DD-9EBC8B14F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B2B87A-D64A-4177-BDBF-69369CAE8B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F80F96-0A05-4014-B678-035DB43F97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3391AA-CF45-42B1-9B0F-88893C59B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23671-3B8A-4F80-9A11-61DA1610CF33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7A6FDC-7006-4595-97CD-1636DF641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64D77E-8A23-4831-88FA-AD6AA698C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4B09C-5148-4C4C-8EEA-E8023D760A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21884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270A2-833C-4649-A439-7C0761CA5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5F8B06-0A0F-493B-AC87-0EE956C1AF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F01CCE-DD3D-4354-ACB9-1784903247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BF5F2D-C253-4597-AE47-36A9E15F6F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79CED1-D93D-4F00-B7D8-ED3BF971EF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E0714C6-98B3-416C-AC20-2C4A5F462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23671-3B8A-4F80-9A11-61DA1610CF33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33DAD7-6DCA-4D84-B11C-08CE9974D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3D84AC-C732-4233-B305-B97725540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4B09C-5148-4C4C-8EEA-E8023D760A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8375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95153-78C9-4740-AE15-1D3036661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61D33C-A4C3-4959-A911-6AEBE8FCC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23671-3B8A-4F80-9A11-61DA1610CF33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998714-ED47-431B-BA7E-CEE0E559C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B46587-68FE-4179-9485-4916398E6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4B09C-5148-4C4C-8EEA-E8023D760A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79446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552FDE5-320D-4087-AF90-F6C9C7F15F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23671-3B8A-4F80-9A11-61DA1610CF33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4E8734-10F0-4B9E-A2B2-EC04BCACF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1A9CB8-4C77-44DF-B5DB-8509CC552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4B09C-5148-4C4C-8EEA-E8023D760A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46554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9B9AA-FEA5-49E2-B760-28C73B7AE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E7A736-2532-4CC2-96B5-0E53993213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3AA8CA-C6F4-4DDD-A6AC-96255FC641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F7366B-EFFB-4D30-93BC-E69DB8765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23671-3B8A-4F80-9A11-61DA1610CF33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3D9C0A-8978-45E1-AFE0-8DE9CC743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6D0798-68C6-4FE7-8D6F-0A857C79C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4B09C-5148-4C4C-8EEA-E8023D760A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80924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93FE2-3111-4CF4-9F79-AAA41858DD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C71CB2C-418D-4524-B529-F50050569E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34FC10-7B2B-4B46-B3D1-A9B6A6C2C5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A5D99C-69E7-4B40-8141-19990581B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23671-3B8A-4F80-9A11-61DA1610CF33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D8127F-BA41-48AB-8771-D0CBE2991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34E5A0-B45B-46B0-9E27-E8707AFFB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4B09C-5148-4C4C-8EEA-E8023D760A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18503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56C97-65EF-4696-9C30-E84B0E729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D7EE67-1069-496F-85AA-3CDF408EC4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28B4D1-4BA5-497A-ABAF-871C574CF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23671-3B8A-4F80-9A11-61DA1610CF33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03DA1C-E191-4B50-8E06-84E7F05E1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5F6BC2-D2B3-4F93-BE95-361C67AB2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4B09C-5148-4C4C-8EEA-E8023D760A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40951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AD1EF13-852C-45C2-A3E6-0298751081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36249D-2F0F-45EF-9AA8-BFC560C60D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8D0891-BC5D-4BDB-92B5-BC4AB3854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23671-3B8A-4F80-9A11-61DA1610CF33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D747CD-3D03-486A-A5B9-87DB03F5FC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0BF7CC-F667-42B7-8486-4D1207D61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4B09C-5148-4C4C-8EEA-E8023D760A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739983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D1DF46-73E6-41B7-AF3E-81299AC79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39F685-D66A-48E4-B0AC-D693784072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BA4D61-8FBF-4467-83E0-9A59F56B1F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D23671-3B8A-4F80-9A11-61DA1610CF33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D2B9CD-7E5D-4D95-8D88-D393979F81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02E728-703C-46A1-81C1-23474917F7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84B09C-5148-4C4C-8EEA-E8023D760A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6703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3" Type="http://schemas.openxmlformats.org/officeDocument/2006/relationships/image" Target="../media/image3.jpeg"/><Relationship Id="rId4" Type="http://schemas.openxmlformats.org/officeDocument/2006/relationships/image" Target="../media/image4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eg"/><Relationship Id="rId3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eg"/><Relationship Id="rId3" Type="http://schemas.openxmlformats.org/officeDocument/2006/relationships/image" Target="../media/image3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eg"/><Relationship Id="rId3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eg"/><Relationship Id="rId3" Type="http://schemas.openxmlformats.org/officeDocument/2006/relationships/image" Target="../media/image3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eg"/><Relationship Id="rId3" Type="http://schemas.openxmlformats.org/officeDocument/2006/relationships/image" Target="../media/image3.jpe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eg"/><Relationship Id="rId3" Type="http://schemas.openxmlformats.org/officeDocument/2006/relationships/image" Target="../media/image3.jpe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eg"/><Relationship Id="rId3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4.jpeg"/><Relationship Id="rId7" Type="http://schemas.openxmlformats.org/officeDocument/2006/relationships/image" Target="../media/image3.jpe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eg"/><Relationship Id="rId3" Type="http://schemas.openxmlformats.org/officeDocument/2006/relationships/image" Target="../media/image3.jpe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eg"/><Relationship Id="rId3" Type="http://schemas.openxmlformats.org/officeDocument/2006/relationships/image" Target="../media/image3.jpe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eg"/><Relationship Id="rId3" Type="http://schemas.openxmlformats.org/officeDocument/2006/relationships/image" Target="../media/image3.jpe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3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3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eg"/><Relationship Id="rId3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D6AD993-D631-4CC8-B016-F40F4A6754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6021" y="151732"/>
            <a:ext cx="9394859" cy="92947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FF53902-9ACB-4D4A-A8CF-BD1A2720A3B0}"/>
              </a:ext>
            </a:extLst>
          </p:cNvPr>
          <p:cNvSpPr/>
          <p:nvPr/>
        </p:nvSpPr>
        <p:spPr>
          <a:xfrm>
            <a:off x="-925984" y="3787105"/>
            <a:ext cx="6096000" cy="1704569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algn="ctr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ctr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Professor</a:t>
            </a:r>
          </a:p>
          <a:p>
            <a:pPr lvl="0" algn="ctr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Dr.</a:t>
            </a:r>
            <a:r>
              <a:rPr lang="en-US" alt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en-US" alt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Jesu </a:t>
            </a:r>
            <a:r>
              <a:rPr lang="en-US" alt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Jayarin</a:t>
            </a:r>
            <a:endParaRPr lang="en-US" altLang="en-US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ctr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Saveetha School of Engineering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6D4A4DC-DD8D-44BD-9FEE-022E126A0142}"/>
              </a:ext>
            </a:extLst>
          </p:cNvPr>
          <p:cNvSpPr/>
          <p:nvPr/>
        </p:nvSpPr>
        <p:spPr>
          <a:xfrm>
            <a:off x="895350" y="1385109"/>
            <a:ext cx="104013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"/>
            <a:r>
              <a:rPr lang="en-IN" sz="2800" b="1" dirty="0"/>
              <a:t>Invisible Shield Turning Ordinary Images into Tamper-Proof Vaults for Secure File Sharing</a:t>
            </a:r>
            <a:endParaRPr 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C49EBB-6D3A-42F9-879D-2AFD2A1EB32A}"/>
              </a:ext>
            </a:extLst>
          </p:cNvPr>
          <p:cNvSpPr txBox="1"/>
          <p:nvPr/>
        </p:nvSpPr>
        <p:spPr>
          <a:xfrm>
            <a:off x="7109927" y="3546446"/>
            <a:ext cx="5082073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pPr>
              <a:lnSpc>
                <a:spcPct val="1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K. KARTHIKEYA SRINIVASULU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dirty="0"/>
              <a:t>192312112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00000"/>
              </a:lnSpc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U.JAYAKRISHNA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(192324060)</a:t>
            </a:r>
          </a:p>
          <a:p>
            <a:pPr>
              <a:lnSpc>
                <a:spcPct val="100000"/>
              </a:lnSpc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G. LAKSHMAN VENKATESH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(192324069)</a:t>
            </a:r>
          </a:p>
          <a:p>
            <a:pPr>
              <a:lnSpc>
                <a:spcPct val="100000"/>
              </a:lnSpc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L. DATTU KUMAR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dirty="0"/>
              <a:t>192324141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66DF9DC-61BC-46C3-AB27-BDAEEB397A39}"/>
              </a:ext>
            </a:extLst>
          </p:cNvPr>
          <p:cNvSpPr txBox="1"/>
          <p:nvPr/>
        </p:nvSpPr>
        <p:spPr>
          <a:xfrm>
            <a:off x="2003596" y="2643121"/>
            <a:ext cx="125920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CSA5107-Cryptography and Network Security 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31289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9F66698-DF8E-41F8-8EAE-16059D67545F}"/>
              </a:ext>
            </a:extLst>
          </p:cNvPr>
          <p:cNvSpPr/>
          <p:nvPr/>
        </p:nvSpPr>
        <p:spPr>
          <a:xfrm>
            <a:off x="0" y="429209"/>
            <a:ext cx="1219199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latin typeface="Times New Roman" panose="02020603050405020304" charset="0"/>
                <a:cs typeface="Times New Roman" panose="02020603050405020304" charset="0"/>
              </a:rPr>
              <a:t>INTRODUCTION</a:t>
            </a:r>
            <a:endParaRPr lang="en-IN" sz="2800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358EFE04-4DAD-4D34-8E0F-5DFAFB201D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716" y="1706035"/>
            <a:ext cx="8100000" cy="530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00000"/>
              </a:lnSpc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Invisible Shield: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security system that protects a file and also hides the fact that a secret file is being sent.</a:t>
            </a:r>
          </a:p>
          <a:p>
            <a:pPr marL="285750" indent="-285750">
              <a:lnSpc>
                <a:spcPct val="100000"/>
              </a:lnSpc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Ordinary Images: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normal-looking PNG photo is used as the carrier; LSB steganography hides data in its pixels without visible change.</a:t>
            </a:r>
          </a:p>
          <a:p>
            <a:pPr marL="285750" indent="-285750">
              <a:lnSpc>
                <a:spcPct val="100000"/>
              </a:lnSpc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Tamper-Proof Vaults: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AES-256-GCM and SHA-256 checks catch any change, even 1 bit, or a wrong key, and raise a tamper alert.</a:t>
            </a:r>
          </a:p>
          <a:p>
            <a:pPr marL="285750" indent="-285750">
              <a:lnSpc>
                <a:spcPct val="100000"/>
              </a:lnSpc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File Sharing: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 with hashed passwords and the receiver’s public key ensure only the intended person can open the file.</a:t>
            </a:r>
          </a:p>
          <a:p>
            <a:pPr marL="285750" indent="-285750">
              <a:lnSpc>
                <a:spcPct val="100000"/>
              </a:lnSpc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it matters: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 layers of defence, confidentiality, secrecy and integrity, for files such as patient reports and bank statements.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D4808C3-B108-4B3B-8FD0-ADFDEB68F1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4716" y="1596698"/>
            <a:ext cx="3317682" cy="4197560"/>
          </a:xfrm>
          <a:prstGeom prst="rect">
            <a:avLst/>
          </a:prstGeom>
        </p:spPr>
      </p:pic>
      <p:pic>
        <p:nvPicPr>
          <p:cNvPr id="6" name="object 5">
            <a:extLst>
              <a:ext uri="{FF2B5EF4-FFF2-40B4-BE49-F238E27FC236}">
                <a16:creationId xmlns:a16="http://schemas.microsoft.com/office/drawing/2014/main" id="{BCB5E0C6-A003-5C7B-7080-B0F9FB3F9B3D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448" y="78733"/>
            <a:ext cx="1010285" cy="1276826"/>
          </a:xfrm>
          <a:prstGeom prst="rect">
            <a:avLst/>
          </a:prstGeom>
        </p:spPr>
      </p:pic>
      <p:pic>
        <p:nvPicPr>
          <p:cNvPr id="8" name="object 4">
            <a:extLst>
              <a:ext uri="{FF2B5EF4-FFF2-40B4-BE49-F238E27FC236}">
                <a16:creationId xmlns:a16="http://schemas.microsoft.com/office/drawing/2014/main" id="{B80490A6-B284-FA9E-DA9D-7F7220148F94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509849" y="110187"/>
            <a:ext cx="1256665" cy="1256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3696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141F1BE-7C25-4F89-B6D2-7795D21F4ED4}"/>
              </a:ext>
            </a:extLst>
          </p:cNvPr>
          <p:cNvSpPr/>
          <p:nvPr/>
        </p:nvSpPr>
        <p:spPr>
          <a:xfrm>
            <a:off x="0" y="474503"/>
            <a:ext cx="12192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latin typeface="Times New Roman" panose="02020603050405020304" charset="0"/>
                <a:cs typeface="Times New Roman" panose="02020603050405020304" charset="0"/>
              </a:rPr>
              <a:t>OBJECTIVES</a:t>
            </a:r>
            <a:endParaRPr lang="en-IN" sz="28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CD0C8A6-3055-4497-8E79-F88343056EC1}"/>
              </a:ext>
            </a:extLst>
          </p:cNvPr>
          <p:cNvSpPr/>
          <p:nvPr/>
        </p:nvSpPr>
        <p:spPr>
          <a:xfrm>
            <a:off x="502023" y="1800300"/>
            <a:ext cx="6813177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05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let users log in securely with hashed passwords and safe key management.</a:t>
            </a:r>
          </a:p>
          <a:p>
            <a:pPr marL="285750" indent="-285750">
              <a:lnSpc>
                <a:spcPct val="105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protect files with AES-256-GCM and the receiver’s public key (hybrid cryptography).</a:t>
            </a:r>
          </a:p>
          <a:p>
            <a:pPr marL="285750" indent="-285750">
              <a:lnSpc>
                <a:spcPct val="105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hide the encrypted file inside a lossless PNG image using LSB steganography.</a:t>
            </a:r>
          </a:p>
          <a:p>
            <a:pPr marL="285750" indent="-285750">
              <a:lnSpc>
                <a:spcPct val="105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detect tampering or a wrong key using AES-GCM and SHA-256 checks.</a:t>
            </a:r>
          </a:p>
          <a:p>
            <a:pPr marL="285750" indent="-285750">
              <a:lnSpc>
                <a:spcPct val="105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measure file size, processing time and recovery results.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6074CA1-6CDB-0B6B-277E-FE49194823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9586" y="1968251"/>
            <a:ext cx="4597141" cy="3312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object 4">
            <a:extLst>
              <a:ext uri="{FF2B5EF4-FFF2-40B4-BE49-F238E27FC236}">
                <a16:creationId xmlns:a16="http://schemas.microsoft.com/office/drawing/2014/main" id="{B51EC72F-353A-07AA-0881-44D28C457F77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06101" y="107780"/>
            <a:ext cx="1256665" cy="1256665"/>
          </a:xfrm>
          <a:prstGeom prst="rect">
            <a:avLst/>
          </a:prstGeom>
        </p:spPr>
      </p:pic>
      <p:pic>
        <p:nvPicPr>
          <p:cNvPr id="7" name="object 5">
            <a:extLst>
              <a:ext uri="{FF2B5EF4-FFF2-40B4-BE49-F238E27FC236}">
                <a16:creationId xmlns:a16="http://schemas.microsoft.com/office/drawing/2014/main" id="{D9781198-10FC-3D84-1AA4-FAA1CE5E1FAD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3448" y="78733"/>
            <a:ext cx="1010285" cy="1276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9759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F1F5AE8-110B-4A2E-ACD1-5B985D7C513B}"/>
              </a:ext>
            </a:extLst>
          </p:cNvPr>
          <p:cNvSpPr/>
          <p:nvPr/>
        </p:nvSpPr>
        <p:spPr>
          <a:xfrm>
            <a:off x="4138394" y="241626"/>
            <a:ext cx="411580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800" b="1" dirty="0">
                <a:latin typeface="Times New Roman" panose="02020603050405020304" charset="0"/>
                <a:cs typeface="Times New Roman" panose="02020603050405020304" charset="0"/>
              </a:rPr>
              <a:t>LITERATURE REVIEW</a:t>
            </a:r>
            <a:endParaRPr lang="en-IN" sz="2800" b="1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F600380-85FF-47C3-8B8E-106B41F306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3748595"/>
              </p:ext>
            </p:extLst>
          </p:nvPr>
        </p:nvGraphicFramePr>
        <p:xfrm>
          <a:off x="298383" y="1019176"/>
          <a:ext cx="11665014" cy="5514976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947244">
                  <a:extLst>
                    <a:ext uri="{9D8B030D-6E8A-4147-A177-3AD203B41FA5}">
                      <a16:colId xmlns:a16="http://schemas.microsoft.com/office/drawing/2014/main" val="757389570"/>
                    </a:ext>
                  </a:extLst>
                </a:gridCol>
                <a:gridCol w="1513615">
                  <a:extLst>
                    <a:ext uri="{9D8B030D-6E8A-4147-A177-3AD203B41FA5}">
                      <a16:colId xmlns:a16="http://schemas.microsoft.com/office/drawing/2014/main" val="1091210939"/>
                    </a:ext>
                  </a:extLst>
                </a:gridCol>
                <a:gridCol w="1548605">
                  <a:extLst>
                    <a:ext uri="{9D8B030D-6E8A-4147-A177-3AD203B41FA5}">
                      <a16:colId xmlns:a16="http://schemas.microsoft.com/office/drawing/2014/main" val="3551718635"/>
                    </a:ext>
                  </a:extLst>
                </a:gridCol>
                <a:gridCol w="1531110">
                  <a:extLst>
                    <a:ext uri="{9D8B030D-6E8A-4147-A177-3AD203B41FA5}">
                      <a16:colId xmlns:a16="http://schemas.microsoft.com/office/drawing/2014/main" val="77620192"/>
                    </a:ext>
                  </a:extLst>
                </a:gridCol>
                <a:gridCol w="1524369">
                  <a:extLst>
                    <a:ext uri="{9D8B030D-6E8A-4147-A177-3AD203B41FA5}">
                      <a16:colId xmlns:a16="http://schemas.microsoft.com/office/drawing/2014/main" val="3572241440"/>
                    </a:ext>
                  </a:extLst>
                </a:gridCol>
                <a:gridCol w="1540042">
                  <a:extLst>
                    <a:ext uri="{9D8B030D-6E8A-4147-A177-3AD203B41FA5}">
                      <a16:colId xmlns:a16="http://schemas.microsoft.com/office/drawing/2014/main" val="1391788569"/>
                    </a:ext>
                  </a:extLst>
                </a:gridCol>
                <a:gridCol w="1528919">
                  <a:extLst>
                    <a:ext uri="{9D8B030D-6E8A-4147-A177-3AD203B41FA5}">
                      <a16:colId xmlns:a16="http://schemas.microsoft.com/office/drawing/2014/main" val="1498704995"/>
                    </a:ext>
                  </a:extLst>
                </a:gridCol>
                <a:gridCol w="1531110">
                  <a:extLst>
                    <a:ext uri="{9D8B030D-6E8A-4147-A177-3AD203B41FA5}">
                      <a16:colId xmlns:a16="http://schemas.microsoft.com/office/drawing/2014/main" val="1956276808"/>
                    </a:ext>
                  </a:extLst>
                </a:gridCol>
              </a:tblGrid>
              <a:tr h="634291">
                <a:tc>
                  <a:txBody>
                    <a:bodyPr/>
                    <a:lstStyle/>
                    <a:p>
                      <a:r>
                        <a:rPr lang="en-IN" sz="1600" b="1" dirty="0"/>
                        <a:t>S. No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r>
                        <a:rPr lang="en-IN" sz="1600" b="1" dirty="0"/>
                        <a:t>Author(s) &amp; Year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r>
                        <a:rPr lang="en-IN" sz="1600" b="1" dirty="0"/>
                        <a:t>Name of Journal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r>
                        <a:rPr lang="en-IN" sz="1600" b="1" dirty="0"/>
                        <a:t>Model / Technique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r>
                        <a:rPr lang="en-IN" sz="1600" b="1" dirty="0"/>
                        <a:t>Dataset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r>
                        <a:rPr lang="en-IN" sz="1600" b="1"/>
                        <a:t>Features</a:t>
                      </a:r>
                      <a:endParaRPr lang="en-IN" sz="16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r>
                        <a:rPr lang="en-IN" sz="1600" b="1" dirty="0"/>
                        <a:t>Strengths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r>
                        <a:rPr lang="en-IN" sz="1600" b="1" dirty="0"/>
                        <a:t>Limitations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063" marR="63063" marT="31531" marB="31531" anchor="ctr"/>
                </a:tc>
                <a:extLst>
                  <a:ext uri="{0D108BD9-81ED-4DB2-BD59-A6C34878D82A}">
                    <a16:rowId xmlns:a16="http://schemas.microsoft.com/office/drawing/2014/main" val="2077482593"/>
                  </a:ext>
                </a:extLst>
              </a:tr>
              <a:tr h="915121">
                <a:tc>
                  <a:txBody>
                    <a:bodyPr/>
                    <a:lstStyle/>
                    <a:p>
                      <a:r>
                        <a:rPr lang="en-IN" sz="1600" b="1" dirty="0"/>
                        <a:t>1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Wahab et al., 2021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IEEE Access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RSA + compression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Cover images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RSA with compressed hiding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Better quality and capacity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RSA slow for large files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063" marR="63063" marT="31531" marB="31531" anchor="ctr"/>
                </a:tc>
                <a:extLst>
                  <a:ext uri="{0D108BD9-81ED-4DB2-BD59-A6C34878D82A}">
                    <a16:rowId xmlns:a16="http://schemas.microsoft.com/office/drawing/2014/main" val="488029005"/>
                  </a:ext>
                </a:extLst>
              </a:tr>
              <a:tr h="915121">
                <a:tc>
                  <a:txBody>
                    <a:bodyPr/>
                    <a:lstStyle/>
                    <a:p>
                      <a:r>
                        <a:rPr lang="en-IN" sz="1600" b="1" dirty="0"/>
                        <a:t>2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r>
                        <a:rPr lang="en-IN" sz="1600" dirty="0" err="1"/>
                        <a:t>Awadh et al., 2022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IJECE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DWT + AES + LSB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40 cover images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Compress, encrypt, hide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PSNR 47.8 dB, SSIM 0.92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Shared AES key needed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063" marR="63063" marT="31531" marB="31531" anchor="ctr"/>
                </a:tc>
                <a:extLst>
                  <a:ext uri="{0D108BD9-81ED-4DB2-BD59-A6C34878D82A}">
                    <a16:rowId xmlns:a16="http://schemas.microsoft.com/office/drawing/2014/main" val="2345768079"/>
                  </a:ext>
                </a:extLst>
              </a:tr>
              <a:tr h="944185">
                <a:tc>
                  <a:txBody>
                    <a:bodyPr/>
                    <a:lstStyle/>
                    <a:p>
                      <a:r>
                        <a:rPr lang="en-IN" sz="1600" b="1" dirty="0"/>
                        <a:t>3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Alanzy et al., 2023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Applied Sciences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AES + Blowfish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Cover images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Pixel randomization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High PSNR, low MSE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No public-key exchange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063" marR="63063" marT="31531" marB="31531" anchor="ctr"/>
                </a:tc>
                <a:extLst>
                  <a:ext uri="{0D108BD9-81ED-4DB2-BD59-A6C34878D82A}">
                    <a16:rowId xmlns:a16="http://schemas.microsoft.com/office/drawing/2014/main" val="3985027201"/>
                  </a:ext>
                </a:extLst>
              </a:tr>
              <a:tr h="1162073">
                <a:tc>
                  <a:txBody>
                    <a:bodyPr/>
                    <a:lstStyle/>
                    <a:p>
                      <a:r>
                        <a:rPr lang="en-IN" sz="1600" b="1" dirty="0"/>
                        <a:t>4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r>
                        <a:rPr lang="en-IN" sz="1600" dirty="0" err="1"/>
                        <a:t>Tanu et al., 2023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IEEE SIN Conference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AES + LSB layers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Text and images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Multi-layer concealment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Hides larger data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Shared secret key needed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063" marR="63063" marT="31531" marB="31531" anchor="ctr"/>
                </a:tc>
                <a:extLst>
                  <a:ext uri="{0D108BD9-81ED-4DB2-BD59-A6C34878D82A}">
                    <a16:rowId xmlns:a16="http://schemas.microsoft.com/office/drawing/2014/main" val="1048791491"/>
                  </a:ext>
                </a:extLst>
              </a:tr>
              <a:tr h="944185">
                <a:tc>
                  <a:txBody>
                    <a:bodyPr/>
                    <a:lstStyle/>
                    <a:p>
                      <a:r>
                        <a:rPr lang="en-IN" sz="1600" b="1" dirty="0"/>
                        <a:t>5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Umm e Amara, 2025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COMSATS Univ. thesis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RSA + XOR + LSB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Digital images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Capacity vs quality study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1-2 bit LSB is balanced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Deeper LSB distorts image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063" marR="63063" marT="31531" marB="31531" anchor="ctr"/>
                </a:tc>
                <a:extLst>
                  <a:ext uri="{0D108BD9-81ED-4DB2-BD59-A6C34878D82A}">
                    <a16:rowId xmlns:a16="http://schemas.microsoft.com/office/drawing/2014/main" val="145703174"/>
                  </a:ext>
                </a:extLst>
              </a:tr>
            </a:tbl>
          </a:graphicData>
        </a:graphic>
      </p:graphicFrame>
      <p:pic>
        <p:nvPicPr>
          <p:cNvPr id="3" name="object 4">
            <a:extLst>
              <a:ext uri="{FF2B5EF4-FFF2-40B4-BE49-F238E27FC236}">
                <a16:creationId xmlns:a16="http://schemas.microsoft.com/office/drawing/2014/main" id="{EA378745-B4F6-1F39-AE00-D218C3C23D3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38186" y="0"/>
            <a:ext cx="1256665" cy="963030"/>
          </a:xfrm>
          <a:prstGeom prst="rect">
            <a:avLst/>
          </a:prstGeom>
        </p:spPr>
      </p:pic>
      <p:pic>
        <p:nvPicPr>
          <p:cNvPr id="7" name="object 5">
            <a:extLst>
              <a:ext uri="{FF2B5EF4-FFF2-40B4-BE49-F238E27FC236}">
                <a16:creationId xmlns:a16="http://schemas.microsoft.com/office/drawing/2014/main" id="{8B68B334-06FB-0DC2-D429-D68C27730BA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448" y="78733"/>
            <a:ext cx="1010285" cy="787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98463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44346E8-46F9-4097-BA4E-CD4451A33A5C}"/>
              </a:ext>
            </a:extLst>
          </p:cNvPr>
          <p:cNvSpPr/>
          <p:nvPr/>
        </p:nvSpPr>
        <p:spPr>
          <a:xfrm>
            <a:off x="0" y="337160"/>
            <a:ext cx="12192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r>
              <a:rPr lang="en-IN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28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F2EF47C-C3DD-436C-AEFF-F1B23C910670}"/>
              </a:ext>
            </a:extLst>
          </p:cNvPr>
          <p:cNvSpPr/>
          <p:nvPr/>
        </p:nvSpPr>
        <p:spPr>
          <a:xfrm>
            <a:off x="762000" y="1740365"/>
            <a:ext cx="7343718" cy="4499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05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Private files like patient reports and bank statements are often sent over public networks, where hackers can intercept them.</a:t>
            </a:r>
          </a:p>
          <a:p>
            <a:pPr marL="285750" indent="-285750">
              <a:lnSpc>
                <a:spcPct val="105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Encryption hides the content, but not the fact that a secret file is being sent, which can attract attackers.</a:t>
            </a:r>
          </a:p>
          <a:p>
            <a:pPr marL="285750" indent="-285750">
              <a:lnSpc>
                <a:spcPct val="105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Sharing one password is risky, and users cannot always tell if the file was changed on the way.</a:t>
            </a:r>
          </a:p>
          <a:p>
            <a:pPr marL="285750" indent="-285750">
              <a:lnSpc>
                <a:spcPct val="105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 we need one system that locks the file, hides it, and proves it was not modified.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27C6CBA-D072-45F8-8DD4-4650BEB0EC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1970" y="1355559"/>
            <a:ext cx="3785659" cy="4828673"/>
          </a:xfrm>
          <a:prstGeom prst="rect">
            <a:avLst/>
          </a:prstGeom>
        </p:spPr>
      </p:pic>
      <p:pic>
        <p:nvPicPr>
          <p:cNvPr id="3" name="object 4">
            <a:extLst>
              <a:ext uri="{FF2B5EF4-FFF2-40B4-BE49-F238E27FC236}">
                <a16:creationId xmlns:a16="http://schemas.microsoft.com/office/drawing/2014/main" id="{AF2D33C1-07AB-1FCF-45E6-5B5E5CC274EC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30692" y="62680"/>
            <a:ext cx="1256665" cy="1072180"/>
          </a:xfrm>
          <a:prstGeom prst="rect">
            <a:avLst/>
          </a:prstGeom>
        </p:spPr>
      </p:pic>
      <p:pic>
        <p:nvPicPr>
          <p:cNvPr id="8" name="object 5">
            <a:extLst>
              <a:ext uri="{FF2B5EF4-FFF2-40B4-BE49-F238E27FC236}">
                <a16:creationId xmlns:a16="http://schemas.microsoft.com/office/drawing/2014/main" id="{5D00027C-3B1E-AD7D-FF59-F205BF44105E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3448" y="78733"/>
            <a:ext cx="1010285" cy="1276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76184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F0D279C-03B9-4D2B-B842-014E5B4162CB}"/>
              </a:ext>
            </a:extLst>
          </p:cNvPr>
          <p:cNvSpPr/>
          <p:nvPr/>
        </p:nvSpPr>
        <p:spPr>
          <a:xfrm>
            <a:off x="4101928" y="253484"/>
            <a:ext cx="500169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altLang="en-US" sz="2800" b="1" dirty="0">
                <a:latin typeface="Times New Roman" panose="02020603050405020304" charset="0"/>
                <a:cs typeface="Times New Roman" panose="02020603050405020304" charset="0"/>
              </a:rPr>
              <a:t>ARCHITECTURE DIAGRAM</a:t>
            </a: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ACA1292-4251-F648-9586-DDF7253711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000" y="1250000"/>
            <a:ext cx="10800000" cy="4717000"/>
          </a:xfrm>
          <a:prstGeom prst="rect">
            <a:avLst/>
          </a:prstGeom>
        </p:spPr>
      </p:pic>
      <p:pic>
        <p:nvPicPr>
          <p:cNvPr id="5" name="object 4">
            <a:extLst>
              <a:ext uri="{FF2B5EF4-FFF2-40B4-BE49-F238E27FC236}">
                <a16:creationId xmlns:a16="http://schemas.microsoft.com/office/drawing/2014/main" id="{EF503A22-52E4-194C-4838-79EE17F5E541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67667" y="86477"/>
            <a:ext cx="1256665" cy="926875"/>
          </a:xfrm>
          <a:prstGeom prst="rect">
            <a:avLst/>
          </a:prstGeom>
        </p:spPr>
      </p:pic>
      <p:pic>
        <p:nvPicPr>
          <p:cNvPr id="7" name="object 5">
            <a:extLst>
              <a:ext uri="{FF2B5EF4-FFF2-40B4-BE49-F238E27FC236}">
                <a16:creationId xmlns:a16="http://schemas.microsoft.com/office/drawing/2014/main" id="{2764817A-03C6-11CF-2310-440858E23894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3448" y="78733"/>
            <a:ext cx="1010285" cy="1100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8723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AD6E7-4C01-45AC-C1AD-CB97DEC33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CFA67B-CF9A-DEBF-3714-FCD4718FC0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0796" y="1999306"/>
            <a:ext cx="10515600" cy="4351338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User Authentication and Key Management</a:t>
            </a:r>
          </a:p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Hybrid Cryptography for File Protection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 Image Steganography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4: Integrity Verification and Security Analysis</a:t>
            </a:r>
          </a:p>
        </p:txBody>
      </p:sp>
      <p:pic>
        <p:nvPicPr>
          <p:cNvPr id="5" name="object 4">
            <a:extLst>
              <a:ext uri="{FF2B5EF4-FFF2-40B4-BE49-F238E27FC236}">
                <a16:creationId xmlns:a16="http://schemas.microsoft.com/office/drawing/2014/main" id="{A263653A-21FE-5FF9-26EB-83AC7772AA9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25467" y="155967"/>
            <a:ext cx="1256665" cy="1256665"/>
          </a:xfrm>
          <a:prstGeom prst="rect">
            <a:avLst/>
          </a:prstGeom>
        </p:spPr>
      </p:pic>
      <p:pic>
        <p:nvPicPr>
          <p:cNvPr id="7" name="object 5">
            <a:extLst>
              <a:ext uri="{FF2B5EF4-FFF2-40B4-BE49-F238E27FC236}">
                <a16:creationId xmlns:a16="http://schemas.microsoft.com/office/drawing/2014/main" id="{36FFCB1B-9854-473B-8C1F-4CDDB8AE1DBB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448" y="78733"/>
            <a:ext cx="1010285" cy="1276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0541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AD6E7-4C01-45AC-C1AD-CB97DEC33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TECHNIQUES AND TOOLS USED</a:t>
            </a:r>
          </a:p>
        </p:txBody>
      </p:sp>
      <p:pic>
        <p:nvPicPr>
          <p:cNvPr id="5" name="object 4">
            <a:extLst>
              <a:ext uri="{FF2B5EF4-FFF2-40B4-BE49-F238E27FC236}">
                <a16:creationId xmlns:a16="http://schemas.microsoft.com/office/drawing/2014/main" id="{A263653A-21FE-5FF9-26EB-83AC7772AA9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25467" y="155967"/>
            <a:ext cx="1256665" cy="1256665"/>
          </a:xfrm>
          <a:prstGeom prst="rect">
            <a:avLst/>
          </a:prstGeom>
        </p:spPr>
      </p:pic>
      <p:pic>
        <p:nvPicPr>
          <p:cNvPr id="7" name="object 5">
            <a:extLst>
              <a:ext uri="{FF2B5EF4-FFF2-40B4-BE49-F238E27FC236}">
                <a16:creationId xmlns:a16="http://schemas.microsoft.com/office/drawing/2014/main" id="{36FFCB1B-9854-473B-8C1F-4CDDB8AE1DBB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448" y="78733"/>
            <a:ext cx="1010285" cy="1276826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5800" y="1828800"/>
          <a:ext cx="1078992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2286000"/>
                <a:gridCol w="914400"/>
                <a:gridCol w="4480560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Technique</a:t>
                      </a:r>
                    </a:p>
                  </a:txBody>
                  <a:tcPr anchor="ctr" marL="73152" marR="73152" marT="36576" marB="36576">
                    <a:solidFill>
                      <a:srgbClr val="1F3A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Tool / Library</a:t>
                      </a:r>
                    </a:p>
                  </a:txBody>
                  <a:tcPr anchor="ctr" marL="73152" marR="73152" marT="36576" marB="36576">
                    <a:solidFill>
                      <a:srgbClr val="1F3A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Module</a:t>
                      </a:r>
                    </a:p>
                  </a:txBody>
                  <a:tcPr anchor="ctr" marL="73152" marR="73152" marT="36576" marB="36576">
                    <a:solidFill>
                      <a:srgbClr val="1F3A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Purpose</a:t>
                      </a:r>
                    </a:p>
                  </a:txBody>
                  <a:tcPr anchor="ctr" marL="73152" marR="73152" marT="36576" marB="36576">
                    <a:solidFill>
                      <a:srgbClr val="1F3A6E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A1A1A"/>
                          </a:solidFill>
                          <a:latin typeface="Times New Roman"/>
                        </a:rPr>
                        <a:t>AES-256-GCM encryption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Times New Roman"/>
                        </a:rPr>
                        <a:t>Python cryptography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Times New Roman"/>
                        </a:rPr>
                        <a:t>2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Times New Roman"/>
                        </a:rPr>
                        <a:t>Locks the file; GCM tag proves it is authentic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A1A1A"/>
                          </a:solidFill>
                          <a:latin typeface="Times New Roman"/>
                        </a:rPr>
                        <a:t>Hybrid key wrapping (RSA public key)</a:t>
                      </a:r>
                    </a:p>
                  </a:txBody>
                  <a:tcPr anchor="ctr" marL="73152" marR="73152" marT="36576" marB="36576">
                    <a:solidFill>
                      <a:srgbClr val="EAEF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Times New Roman"/>
                        </a:rPr>
                        <a:t>Python cryptography</a:t>
                      </a:r>
                    </a:p>
                  </a:txBody>
                  <a:tcPr anchor="ctr" marL="73152" marR="73152" marT="36576" marB="36576">
                    <a:solidFill>
                      <a:srgbClr val="EAEF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Times New Roman"/>
                        </a:rPr>
                        <a:t>2</a:t>
                      </a:r>
                    </a:p>
                  </a:txBody>
                  <a:tcPr anchor="ctr" marL="73152" marR="73152" marT="36576" marB="36576">
                    <a:solidFill>
                      <a:srgbClr val="EAEF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Times New Roman"/>
                        </a:rPr>
                        <a:t>Receiver's public key protects the AES key</a:t>
                      </a:r>
                    </a:p>
                  </a:txBody>
                  <a:tcPr anchor="ctr" marL="73152" marR="73152" marT="36576" marB="36576">
                    <a:solidFill>
                      <a:srgbClr val="EAEFF7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A1A1A"/>
                          </a:solidFill>
                          <a:latin typeface="Times New Roman"/>
                        </a:rPr>
                        <a:t>LSB steganography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Times New Roman"/>
                        </a:rPr>
                        <a:t>Pillow, NumPy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Times New Roman"/>
                        </a:rPr>
                        <a:t>3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Times New Roman"/>
                        </a:rPr>
                        <a:t>Hides the encrypted file inside a PNG image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A1A1A"/>
                          </a:solidFill>
                          <a:latin typeface="Times New Roman"/>
                        </a:rPr>
                        <a:t>SHA-256 hashing</a:t>
                      </a:r>
                    </a:p>
                  </a:txBody>
                  <a:tcPr anchor="ctr" marL="73152" marR="73152" marT="36576" marB="36576">
                    <a:solidFill>
                      <a:srgbClr val="EAEF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Times New Roman"/>
                        </a:rPr>
                        <a:t>Python hashlib</a:t>
                      </a:r>
                    </a:p>
                  </a:txBody>
                  <a:tcPr anchor="ctr" marL="73152" marR="73152" marT="36576" marB="36576">
                    <a:solidFill>
                      <a:srgbClr val="EAEF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Times New Roman"/>
                        </a:rPr>
                        <a:t>4</a:t>
                      </a:r>
                    </a:p>
                  </a:txBody>
                  <a:tcPr anchor="ctr" marL="73152" marR="73152" marT="36576" marB="36576">
                    <a:solidFill>
                      <a:srgbClr val="EAEF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Times New Roman"/>
                        </a:rPr>
                        <a:t>Compares original and recovered file</a:t>
                      </a:r>
                    </a:p>
                  </a:txBody>
                  <a:tcPr anchor="ctr" marL="73152" marR="73152" marT="36576" marB="36576">
                    <a:solidFill>
                      <a:srgbClr val="EAEFF7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A1A1A"/>
                          </a:solidFill>
                          <a:latin typeface="Times New Roman"/>
                        </a:rPr>
                        <a:t>Salted password hashing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Times New Roman"/>
                        </a:rPr>
                        <a:t>Python, SQLite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Times New Roman"/>
                        </a:rPr>
                        <a:t>Safe login; no plain-text passwords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A1A1A"/>
                          </a:solidFill>
                          <a:latin typeface="Times New Roman"/>
                        </a:rPr>
                        <a:t>Web browser interface and key storage</a:t>
                      </a:r>
                    </a:p>
                  </a:txBody>
                  <a:tcPr anchor="ctr" marL="73152" marR="73152" marT="36576" marB="36576">
                    <a:solidFill>
                      <a:srgbClr val="EAEF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Times New Roman"/>
                        </a:rPr>
                        <a:t>Web browser, Streamlit, SQLite</a:t>
                      </a:r>
                    </a:p>
                  </a:txBody>
                  <a:tcPr anchor="ctr" marL="73152" marR="73152" marT="36576" marB="36576">
                    <a:solidFill>
                      <a:srgbClr val="EAEF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anchor="ctr" marL="73152" marR="73152" marT="36576" marB="36576">
                    <a:solidFill>
                      <a:srgbClr val="EAEF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Times New Roman"/>
                        </a:rPr>
                        <a:t>User login, upload, download, key management</a:t>
                      </a:r>
                    </a:p>
                  </a:txBody>
                  <a:tcPr anchor="ctr" marL="73152" marR="73152" marT="36576" marB="36576">
                    <a:solidFill>
                      <a:srgbClr val="EAEFF7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A1A1A"/>
                          </a:solidFill>
                          <a:latin typeface="Times New Roman"/>
                        </a:rPr>
                        <a:t>Performance analysis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Times New Roman"/>
                        </a:rPr>
                        <a:t>Matplotlib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Times New Roman"/>
                        </a:rPr>
                        <a:t>4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Times New Roman"/>
                        </a:rPr>
                        <a:t>Graphs of file size and processing time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00541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AD6E7-4C01-45AC-C1AD-CB97DEC33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LAYERS AND SECURITY</a:t>
            </a:r>
          </a:p>
        </p:txBody>
      </p:sp>
      <p:pic>
        <p:nvPicPr>
          <p:cNvPr id="5" name="object 4">
            <a:extLst>
              <a:ext uri="{FF2B5EF4-FFF2-40B4-BE49-F238E27FC236}">
                <a16:creationId xmlns:a16="http://schemas.microsoft.com/office/drawing/2014/main" id="{A263653A-21FE-5FF9-26EB-83AC7772AA9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25467" y="155967"/>
            <a:ext cx="1256665" cy="1256665"/>
          </a:xfrm>
          <a:prstGeom prst="rect">
            <a:avLst/>
          </a:prstGeom>
        </p:spPr>
      </p:pic>
      <p:pic>
        <p:nvPicPr>
          <p:cNvPr id="7" name="object 5">
            <a:extLst>
              <a:ext uri="{FF2B5EF4-FFF2-40B4-BE49-F238E27FC236}">
                <a16:creationId xmlns:a16="http://schemas.microsoft.com/office/drawing/2014/main" id="{36FFCB1B-9854-473B-8C1F-4CDDB8AE1DBB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448" y="78733"/>
            <a:ext cx="1010285" cy="1276826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5800" y="1737360"/>
          <a:ext cx="10789920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5394960"/>
                <a:gridCol w="3017520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Layer (OSI)</a:t>
                      </a:r>
                    </a:p>
                  </a:txBody>
                  <a:tcPr anchor="ctr" marL="73152" marR="73152" marT="36576" marB="36576">
                    <a:solidFill>
                      <a:srgbClr val="1F3A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Role in our project</a:t>
                      </a:r>
                    </a:p>
                  </a:txBody>
                  <a:tcPr anchor="ctr" marL="73152" marR="73152" marT="36576" marB="36576">
                    <a:solidFill>
                      <a:srgbClr val="1F3A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Technique / Tool</a:t>
                      </a:r>
                    </a:p>
                  </a:txBody>
                  <a:tcPr anchor="ctr" marL="73152" marR="73152" marT="36576" marB="36576">
                    <a:solidFill>
                      <a:srgbClr val="1F3A6E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A1A1A"/>
                          </a:solidFill>
                          <a:latin typeface="Times New Roman"/>
                        </a:rPr>
                        <a:t>Application (7)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Times New Roman"/>
                        </a:rPr>
                        <a:t>User opens the web app in a browser to log in, upload and download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Times New Roman"/>
                        </a:rPr>
                        <a:t>Web browser, Streamlit, SQLite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A1A1A"/>
                          </a:solidFill>
                          <a:latin typeface="Times New Roman"/>
                        </a:rPr>
                        <a:t>Presentation (6)</a:t>
                      </a:r>
                    </a:p>
                  </a:txBody>
                  <a:tcPr anchor="ctr" marL="73152" marR="73152" marT="36576" marB="36576">
                    <a:solidFill>
                      <a:srgbClr val="EAEF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Times New Roman"/>
                        </a:rPr>
                        <a:t>Encrypts the file and encodes it into the image</a:t>
                      </a:r>
                    </a:p>
                  </a:txBody>
                  <a:tcPr anchor="ctr" marL="73152" marR="73152" marT="36576" marB="36576">
                    <a:solidFill>
                      <a:srgbClr val="EAEF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Times New Roman"/>
                        </a:rPr>
                        <a:t>AES-256-GCM, RSA, LSB (Pillow)</a:t>
                      </a:r>
                    </a:p>
                  </a:txBody>
                  <a:tcPr anchor="ctr" marL="73152" marR="73152" marT="36576" marB="36576">
                    <a:solidFill>
                      <a:srgbClr val="EAEFF7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A1A1A"/>
                          </a:solidFill>
                          <a:latin typeface="Times New Roman"/>
                        </a:rPr>
                        <a:t>Session (5)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Times New Roman"/>
                        </a:rPr>
                        <a:t>Only logged-in users start a sharing session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Times New Roman"/>
                        </a:rPr>
                        <a:t>Salted password hashing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A1A1A"/>
                          </a:solidFill>
                          <a:latin typeface="Times New Roman"/>
                        </a:rPr>
                        <a:t>Transport (4)</a:t>
                      </a:r>
                    </a:p>
                  </a:txBody>
                  <a:tcPr anchor="ctr" marL="73152" marR="73152" marT="36576" marB="36576">
                    <a:solidFill>
                      <a:srgbClr val="EAEF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Times New Roman"/>
                        </a:rPr>
                        <a:t>Browser and server exchange data reliably</a:t>
                      </a:r>
                    </a:p>
                  </a:txBody>
                  <a:tcPr anchor="ctr" marL="73152" marR="73152" marT="36576" marB="36576">
                    <a:solidFill>
                      <a:srgbClr val="EAEF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Times New Roman"/>
                        </a:rPr>
                        <a:t>HTTP over TCP</a:t>
                      </a:r>
                    </a:p>
                  </a:txBody>
                  <a:tcPr anchor="ctr" marL="73152" marR="73152" marT="36576" marB="36576">
                    <a:solidFill>
                      <a:srgbClr val="EAEFF7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A1A1A"/>
                          </a:solidFill>
                          <a:latin typeface="Times New Roman"/>
                        </a:rPr>
                        <a:t>Network (3)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Times New Roman"/>
                        </a:rPr>
                        <a:t>Data is routed over public Wi-Fi, where a hacker can intercept it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Times New Roman"/>
                        </a:rPr>
                        <a:t>Protected by the layers above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85800" y="54406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600">
                <a:latin typeface="Times New Roman"/>
              </a:rPr>
              <a:t>End-to-end protection: </a:t>
            </a:r>
            <a:r>
              <a:rPr sz="1600">
                <a:latin typeface="Times New Roman"/>
              </a:rPr>
              <a:t>the file is secured at the upper layers, so it stays safe even when the lower network layers are untrusted.</a:t>
            </a:r>
          </a:p>
          <a:p>
            <a:r>
              <a:rPr b="1" sz="1600">
                <a:latin typeface="Times New Roman"/>
              </a:rPr>
              <a:t>Browser-based: </a:t>
            </a:r>
            <a:r>
              <a:rPr sz="1600">
                <a:latin typeface="Times New Roman"/>
              </a:rPr>
              <a:t>the whole system runs in a web browser, so no extra software is needed.</a:t>
            </a:r>
          </a:p>
        </p:txBody>
      </p:sp>
    </p:spTree>
    <p:extLst>
      <p:ext uri="{BB962C8B-B14F-4D97-AF65-F5344CB8AC3E}">
        <p14:creationId xmlns:p14="http://schemas.microsoft.com/office/powerpoint/2010/main" val="6400541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44346E8-46F9-4097-BA4E-CD4451A33A5C}"/>
              </a:ext>
            </a:extLst>
          </p:cNvPr>
          <p:cNvSpPr/>
          <p:nvPr/>
        </p:nvSpPr>
        <p:spPr>
          <a:xfrm>
            <a:off x="0" y="337160"/>
            <a:ext cx="12192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EXAMPLE</a:t>
            </a:r>
            <a:endParaRPr lang="en-IN" sz="28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F2EF47C-C3DD-436C-AEFF-F1B23C910670}"/>
              </a:ext>
            </a:extLst>
          </p:cNvPr>
          <p:cNvSpPr/>
          <p:nvPr/>
        </p:nvSpPr>
        <p:spPr>
          <a:xfrm>
            <a:off x="762000" y="1740365"/>
            <a:ext cx="7343718" cy="4499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05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Sender: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Anita, hospital lab technician</a:t>
            </a:r>
          </a:p>
          <a:p>
            <a:pPr marL="285750" indent="-285750">
              <a:lnSpc>
                <a:spcPct val="105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Receiver: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Ravi, consulting doctor</a:t>
            </a:r>
          </a:p>
          <a:p>
            <a:pPr marL="285750" indent="-285750">
              <a:lnSpc>
                <a:spcPct val="105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report.pdf, a patient blood-test report (about 50 KB)</a:t>
            </a:r>
          </a:p>
          <a:p>
            <a:pPr marL="285750" indent="-285750">
              <a:lnSpc>
                <a:spcPct val="105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Carrier: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normal hospital photo saved as PNG</a:t>
            </a:r>
          </a:p>
          <a:p>
            <a:pPr marL="285750" indent="-285750">
              <a:lnSpc>
                <a:spcPct val="105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hacker on public Wi-Fi can read or edit the report</a:t>
            </a:r>
          </a:p>
          <a:p>
            <a:pPr marL="285750" indent="-285750">
              <a:lnSpc>
                <a:spcPct val="105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Ravi gets the exact report; nobody else can read or secretly change it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27C6CBA-D072-45F8-8DD4-4650BEB0EC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1970" y="1355559"/>
            <a:ext cx="3785659" cy="4828673"/>
          </a:xfrm>
          <a:prstGeom prst="rect">
            <a:avLst/>
          </a:prstGeom>
        </p:spPr>
      </p:pic>
      <p:pic>
        <p:nvPicPr>
          <p:cNvPr id="3" name="object 4">
            <a:extLst>
              <a:ext uri="{FF2B5EF4-FFF2-40B4-BE49-F238E27FC236}">
                <a16:creationId xmlns:a16="http://schemas.microsoft.com/office/drawing/2014/main" id="{9A2EC39E-785A-595A-ECEB-F4C1DDF03C6E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38712" y="64168"/>
            <a:ext cx="1256665" cy="1010653"/>
          </a:xfrm>
          <a:prstGeom prst="rect">
            <a:avLst/>
          </a:prstGeom>
        </p:spPr>
      </p:pic>
      <p:pic>
        <p:nvPicPr>
          <p:cNvPr id="8" name="object 5">
            <a:extLst>
              <a:ext uri="{FF2B5EF4-FFF2-40B4-BE49-F238E27FC236}">
                <a16:creationId xmlns:a16="http://schemas.microsoft.com/office/drawing/2014/main" id="{3B27C4E1-907E-7F07-741D-AD1956EE4DC5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3448" y="78733"/>
            <a:ext cx="1010285" cy="1276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76184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E24B100-EF21-4E6B-BEA6-7B1E1824B310}"/>
              </a:ext>
            </a:extLst>
          </p:cNvPr>
          <p:cNvSpPr/>
          <p:nvPr/>
        </p:nvSpPr>
        <p:spPr>
          <a:xfrm>
            <a:off x="399656" y="329101"/>
            <a:ext cx="1107175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User Authentication and Key Management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08856B-18A2-46D8-BD72-A8BD00D8B0E2}"/>
              </a:ext>
            </a:extLst>
          </p:cNvPr>
          <p:cNvSpPr/>
          <p:nvPr/>
        </p:nvSpPr>
        <p:spPr>
          <a:xfrm>
            <a:off x="542725" y="1050000"/>
            <a:ext cx="7400000" cy="490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Implementation:</a:t>
            </a:r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login page with user registration (Streamlit)</a:t>
            </a:r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Passwords stored as salted hashes, never plain text</a:t>
            </a:r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Encryption keys created and managed safely (SQLite)</a:t>
            </a:r>
          </a:p>
          <a:p>
            <a:pPr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Output (hospital example):</a:t>
            </a:r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Anita logs in: Login successful</a:t>
            </a:r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Intruder tries: Unauthorized, access denied</a:t>
            </a:r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Ravi’s key pair: created / retrieved</a:t>
            </a:r>
          </a:p>
          <a:p>
            <a:pPr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Streamlit, SQLite, Python cryptography libraries</a:t>
            </a:r>
          </a:p>
          <a:p>
            <a:pPr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our example: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Anita logs in and selects Dr. Ravi as the receiver.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C7A222C-717C-D45A-8846-4C88376F8C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4063" y="1442505"/>
            <a:ext cx="3600000" cy="4356000"/>
          </a:xfrm>
          <a:prstGeom prst="rect">
            <a:avLst/>
          </a:prstGeom>
        </p:spPr>
      </p:pic>
      <p:pic>
        <p:nvPicPr>
          <p:cNvPr id="5" name="object 4">
            <a:extLst>
              <a:ext uri="{FF2B5EF4-FFF2-40B4-BE49-F238E27FC236}">
                <a16:creationId xmlns:a16="http://schemas.microsoft.com/office/drawing/2014/main" id="{82C32744-094E-EC62-6B15-D0C71ADF6301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66523" y="91798"/>
            <a:ext cx="1256665" cy="967697"/>
          </a:xfrm>
          <a:prstGeom prst="rect">
            <a:avLst/>
          </a:prstGeom>
        </p:spPr>
      </p:pic>
      <p:pic>
        <p:nvPicPr>
          <p:cNvPr id="8" name="object 5">
            <a:extLst>
              <a:ext uri="{FF2B5EF4-FFF2-40B4-BE49-F238E27FC236}">
                <a16:creationId xmlns:a16="http://schemas.microsoft.com/office/drawing/2014/main" id="{7D123359-FA99-1817-5F00-131F2DE668A5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3448" y="78733"/>
            <a:ext cx="1010285" cy="899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3813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6226FA-3F08-8EAD-143E-476621785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E6A858F-EF4F-3026-C113-B41A32619D1B}"/>
              </a:ext>
            </a:extLst>
          </p:cNvPr>
          <p:cNvSpPr/>
          <p:nvPr/>
        </p:nvSpPr>
        <p:spPr>
          <a:xfrm>
            <a:off x="390325" y="301109"/>
            <a:ext cx="1107175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Hybrid Cryptography for File Protection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C8766B-3FDF-90E4-FF34-7029994EE59C}"/>
              </a:ext>
            </a:extLst>
          </p:cNvPr>
          <p:cNvSpPr/>
          <p:nvPr/>
        </p:nvSpPr>
        <p:spPr>
          <a:xfrm>
            <a:off x="542725" y="1050000"/>
            <a:ext cx="7400000" cy="490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Implementation:</a:t>
            </a:r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AES-256-GCM encrypts the uploaded file quickly</a:t>
            </a:r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Receiver’s public key wraps the AES key (hybrid design)</a:t>
            </a:r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the receiver’s private key can unwrap it</a:t>
            </a:r>
          </a:p>
          <a:p>
            <a:pPr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Output (hospital example):</a:t>
            </a:r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report.pdf and its encrypted version</a:t>
            </a:r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Encryption and decryption status</a:t>
            </a:r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Recovered report matches the original</a:t>
            </a:r>
          </a:p>
          <a:p>
            <a:pPr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cryptography package (optional ML-KEM)</a:t>
            </a:r>
          </a:p>
          <a:p>
            <a:pPr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our example: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Anita’s report is locked; only Dr. Ravi’s private key opens it.</a:t>
            </a:r>
          </a:p>
        </p:txBody>
      </p:sp>
      <p:pic>
        <p:nvPicPr>
          <p:cNvPr id="2050" name="Picture 2" descr="Understanding the Encryption Process">
            <a:extLst>
              <a:ext uri="{FF2B5EF4-FFF2-40B4-BE49-F238E27FC236}">
                <a16:creationId xmlns:a16="http://schemas.microsoft.com/office/drawing/2014/main" id="{7C513D85-4480-E78D-2CAE-78216F8B56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0000" y="1250000"/>
            <a:ext cx="3600000" cy="435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object 4">
            <a:extLst>
              <a:ext uri="{FF2B5EF4-FFF2-40B4-BE49-F238E27FC236}">
                <a16:creationId xmlns:a16="http://schemas.microsoft.com/office/drawing/2014/main" id="{24CCCA1A-AB54-FA3B-7BD2-77139F38373C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33751" y="1"/>
            <a:ext cx="1256665" cy="1050000"/>
          </a:xfrm>
          <a:prstGeom prst="rect">
            <a:avLst/>
          </a:prstGeom>
        </p:spPr>
      </p:pic>
      <p:pic>
        <p:nvPicPr>
          <p:cNvPr id="7" name="object 5">
            <a:extLst>
              <a:ext uri="{FF2B5EF4-FFF2-40B4-BE49-F238E27FC236}">
                <a16:creationId xmlns:a16="http://schemas.microsoft.com/office/drawing/2014/main" id="{1732DCB8-E11D-203B-EBFC-7FDDDF3C901D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3448" y="78733"/>
            <a:ext cx="1010285" cy="971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12334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6B57B7-545F-4C1F-54B4-5ADB34E2D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E30D6AB-AE04-329F-C4B9-F4F173C50E1C}"/>
              </a:ext>
            </a:extLst>
          </p:cNvPr>
          <p:cNvSpPr/>
          <p:nvPr/>
        </p:nvSpPr>
        <p:spPr>
          <a:xfrm>
            <a:off x="390325" y="301109"/>
            <a:ext cx="1107175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 Image Steganography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4F443F2-EBF1-ADF2-5027-BB00D6DA64EC}"/>
              </a:ext>
            </a:extLst>
          </p:cNvPr>
          <p:cNvSpPr/>
          <p:nvPr/>
        </p:nvSpPr>
        <p:spPr>
          <a:xfrm>
            <a:off x="542725" y="1050000"/>
            <a:ext cx="7400000" cy="490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Implementation:</a:t>
            </a:r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 the encrypted payload into a lossless PNG (LSB)</a:t>
            </a:r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Pixel changes are tiny, so the image looks the same</a:t>
            </a:r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 later without resizing or recompressing</a:t>
            </a:r>
          </a:p>
          <a:p>
            <a:pPr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Output (hospital example):</a:t>
            </a:r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Hospital photo (original carrier image)</a:t>
            </a:r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Stego-image carrying the encrypted report</a:t>
            </a:r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Extracted payload: success / failure</a:t>
            </a:r>
          </a:p>
          <a:p>
            <a:pPr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Pillow, NumPy</a:t>
            </a:r>
          </a:p>
          <a:p>
            <a:pPr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our example: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Anita emails a normal-looking hospital photo to Dr. Ravi.</a:t>
            </a:r>
          </a:p>
        </p:txBody>
      </p:sp>
      <p:pic>
        <p:nvPicPr>
          <p:cNvPr id="3074" name="Picture 2" descr="LSB Image Steganography. | Download Scientific Diagram">
            <a:extLst>
              <a:ext uri="{FF2B5EF4-FFF2-40B4-BE49-F238E27FC236}">
                <a16:creationId xmlns:a16="http://schemas.microsoft.com/office/drawing/2014/main" id="{BE7CAADC-CC06-328E-6292-930AB8EA1A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0000" y="1250000"/>
            <a:ext cx="3600000" cy="435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object 4">
            <a:extLst>
              <a:ext uri="{FF2B5EF4-FFF2-40B4-BE49-F238E27FC236}">
                <a16:creationId xmlns:a16="http://schemas.microsoft.com/office/drawing/2014/main" id="{35CFB408-8A5F-F8AD-12CD-102213125A25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38712" y="88232"/>
            <a:ext cx="1256665" cy="961769"/>
          </a:xfrm>
          <a:prstGeom prst="rect">
            <a:avLst/>
          </a:prstGeom>
        </p:spPr>
      </p:pic>
      <p:pic>
        <p:nvPicPr>
          <p:cNvPr id="7" name="object 5">
            <a:extLst>
              <a:ext uri="{FF2B5EF4-FFF2-40B4-BE49-F238E27FC236}">
                <a16:creationId xmlns:a16="http://schemas.microsoft.com/office/drawing/2014/main" id="{A07AE476-DDD1-9221-CAC4-64D496297F73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3448" y="78733"/>
            <a:ext cx="1010285" cy="971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23036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729016-A6AC-8AF8-9B4B-1766E14DAC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6529429-C9AC-A8D6-563D-D0C3D1A053F1}"/>
              </a:ext>
            </a:extLst>
          </p:cNvPr>
          <p:cNvSpPr/>
          <p:nvPr/>
        </p:nvSpPr>
        <p:spPr>
          <a:xfrm>
            <a:off x="390325" y="301109"/>
            <a:ext cx="1107175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4: Integrity Verification and Security Analysis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06A0CBC-9588-9726-5688-667FF36D52AA}"/>
              </a:ext>
            </a:extLst>
          </p:cNvPr>
          <p:cNvSpPr/>
          <p:nvPr/>
        </p:nvSpPr>
        <p:spPr>
          <a:xfrm>
            <a:off x="542725" y="1050000"/>
            <a:ext cx="7400000" cy="490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Implementation:</a:t>
            </a:r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AES-GCM tag proves the ciphertext is authentic</a:t>
            </a:r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SHA-256 compares original and recovered files</a:t>
            </a:r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modified files and incorrect keys</a:t>
            </a:r>
          </a:p>
          <a:p>
            <a:pPr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Output (hospital example):</a:t>
            </a:r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Integrity passed for Dr. Ravi’s copy</a:t>
            </a:r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Tamper alert if even 1 bit is changed</a:t>
            </a:r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size, processing time, recovery result</a:t>
            </a:r>
          </a:p>
          <a:p>
            <a:pPr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hashlib, cryptography, Matplotlib</a:t>
            </a:r>
          </a:p>
          <a:p>
            <a:pPr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our example: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hacker edits the photo, so Dr. Ravi sees a TAMPER ALERT.</a:t>
            </a:r>
          </a:p>
        </p:txBody>
      </p:sp>
      <p:pic>
        <p:nvPicPr>
          <p:cNvPr id="4098" name="Picture 2" descr="Steganography: How to Hide Information inside Pictures">
            <a:extLst>
              <a:ext uri="{FF2B5EF4-FFF2-40B4-BE49-F238E27FC236}">
                <a16:creationId xmlns:a16="http://schemas.microsoft.com/office/drawing/2014/main" id="{EB505CAD-6DC5-DF73-DC14-DF3224AFD4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0000" y="1250000"/>
            <a:ext cx="3600000" cy="435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object 4">
            <a:extLst>
              <a:ext uri="{FF2B5EF4-FFF2-40B4-BE49-F238E27FC236}">
                <a16:creationId xmlns:a16="http://schemas.microsoft.com/office/drawing/2014/main" id="{F1FE30FD-85F2-A41E-3074-35A9F1F6941B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38712" y="147946"/>
            <a:ext cx="1256665" cy="999065"/>
          </a:xfrm>
          <a:prstGeom prst="rect">
            <a:avLst/>
          </a:prstGeom>
        </p:spPr>
      </p:pic>
      <p:pic>
        <p:nvPicPr>
          <p:cNvPr id="7" name="object 5">
            <a:extLst>
              <a:ext uri="{FF2B5EF4-FFF2-40B4-BE49-F238E27FC236}">
                <a16:creationId xmlns:a16="http://schemas.microsoft.com/office/drawing/2014/main" id="{CA9EBE93-CF4E-7022-0815-F760C6FE06C8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3448" y="78733"/>
            <a:ext cx="1010285" cy="999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2373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FC61F-9C42-70B5-55DE-4C5EEAA730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AF61871-302A-3AE6-AF9B-3D413E8352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00" y="1500000"/>
            <a:ext cx="2880000" cy="380689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D821117-0474-D44D-B456-2D4A32AF95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000" y="1500000"/>
            <a:ext cx="2880000" cy="38068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230DA57-AA99-8964-0D0B-D38137C32273}"/>
              </a:ext>
            </a:extLst>
          </p:cNvPr>
          <p:cNvSpPr txBox="1"/>
          <p:nvPr/>
        </p:nvSpPr>
        <p:spPr>
          <a:xfrm>
            <a:off x="4646645" y="540822"/>
            <a:ext cx="13051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F7A325-9857-0905-12DD-061CB075869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0000" y="1500000"/>
            <a:ext cx="2880000" cy="3806896"/>
          </a:xfrm>
          <a:prstGeom prst="rect">
            <a:avLst/>
          </a:prstGeom>
        </p:spPr>
      </p:pic>
      <p:pic>
        <p:nvPicPr>
          <p:cNvPr id="99" name="Picture 9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0000" y="1500000"/>
            <a:ext cx="2880000" cy="3806896"/>
          </a:xfrm>
          <a:prstGeom prst="rect">
            <a:avLst/>
          </a:prstGeom>
        </p:spPr>
      </p:pic>
      <p:pic>
        <p:nvPicPr>
          <p:cNvPr id="4" name="object 4">
            <a:extLst>
              <a:ext uri="{FF2B5EF4-FFF2-40B4-BE49-F238E27FC236}">
                <a16:creationId xmlns:a16="http://schemas.microsoft.com/office/drawing/2014/main" id="{3521BFB3-EA0F-A583-2955-21A0ADF142E4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720000" y="67736"/>
            <a:ext cx="1256665" cy="1256665"/>
          </a:xfrm>
          <a:prstGeom prst="rect">
            <a:avLst/>
          </a:prstGeom>
        </p:spPr>
      </p:pic>
      <p:pic>
        <p:nvPicPr>
          <p:cNvPr id="7" name="object 5">
            <a:extLst>
              <a:ext uri="{FF2B5EF4-FFF2-40B4-BE49-F238E27FC236}">
                <a16:creationId xmlns:a16="http://schemas.microsoft.com/office/drawing/2014/main" id="{C79C32FB-0BD9-C234-CB06-4D2F09242E5F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3448" y="78733"/>
            <a:ext cx="1010285" cy="1276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47776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7F31BE7-49C5-46EE-BD74-BA134DADD973}"/>
              </a:ext>
            </a:extLst>
          </p:cNvPr>
          <p:cNvSpPr/>
          <p:nvPr/>
        </p:nvSpPr>
        <p:spPr>
          <a:xfrm>
            <a:off x="3484321" y="815559"/>
            <a:ext cx="462177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DE711140-FE8C-4381-895E-471E13C5AA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0442" y="2053752"/>
            <a:ext cx="9729537" cy="3268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05000"/>
              </a:lnSpc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post-quantum ML-KEM so keys stay safe against future quantum computers.</a:t>
            </a:r>
          </a:p>
          <a:p>
            <a:pPr marL="285750" indent="-285750">
              <a:lnSpc>
                <a:spcPct val="105000"/>
              </a:lnSpc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audio and video carriers, not just PNG images.</a:t>
            </a:r>
          </a:p>
          <a:p>
            <a:pPr marL="285750" indent="-285750">
              <a:lnSpc>
                <a:spcPct val="105000"/>
              </a:lnSpc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adaptive steganography that is harder to detect.</a:t>
            </a:r>
          </a:p>
          <a:p>
            <a:pPr marL="285750" indent="-285750">
              <a:lnSpc>
                <a:spcPct val="105000"/>
              </a:lnSpc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 mobile app for secure file sharing on the go.</a:t>
            </a:r>
          </a:p>
          <a:p>
            <a:pPr marL="285750" indent="-285750">
              <a:lnSpc>
                <a:spcPct val="105000"/>
              </a:lnSpc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multi-factor authentication (OTP) at login.</a:t>
            </a:r>
          </a:p>
          <a:p>
            <a:pPr marL="285750" indent="-285750">
              <a:lnSpc>
                <a:spcPct val="105000"/>
              </a:lnSpc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Compress files before encryption to save space and time.</a:t>
            </a:r>
          </a:p>
        </p:txBody>
      </p:sp>
      <p:pic>
        <p:nvPicPr>
          <p:cNvPr id="3" name="object 4">
            <a:extLst>
              <a:ext uri="{FF2B5EF4-FFF2-40B4-BE49-F238E27FC236}">
                <a16:creationId xmlns:a16="http://schemas.microsoft.com/office/drawing/2014/main" id="{8B68DA75-0162-F633-C5E6-8D339EA7754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38712" y="147946"/>
            <a:ext cx="1256665" cy="1256665"/>
          </a:xfrm>
          <a:prstGeom prst="rect">
            <a:avLst/>
          </a:prstGeom>
        </p:spPr>
      </p:pic>
      <p:pic>
        <p:nvPicPr>
          <p:cNvPr id="7" name="object 5">
            <a:extLst>
              <a:ext uri="{FF2B5EF4-FFF2-40B4-BE49-F238E27FC236}">
                <a16:creationId xmlns:a16="http://schemas.microsoft.com/office/drawing/2014/main" id="{EAF92F48-3323-08B9-4ED9-1CEBEAF1735D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448" y="78733"/>
            <a:ext cx="1010285" cy="1276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63339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759DF16-2533-44C9-856A-9F01B4B8E017}"/>
              </a:ext>
            </a:extLst>
          </p:cNvPr>
          <p:cNvSpPr/>
          <p:nvPr/>
        </p:nvSpPr>
        <p:spPr>
          <a:xfrm>
            <a:off x="4326079" y="626262"/>
            <a:ext cx="261962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800" b="1" dirty="0">
                <a:latin typeface="Times New Roman" panose="02020603050405020304" charset="0"/>
                <a:cs typeface="Times New Roman" panose="02020603050405020304" charset="0"/>
              </a:rPr>
              <a:t>CONCLUSION</a:t>
            </a:r>
            <a:endParaRPr lang="en-IN" sz="2800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A5CCF30B-0D04-48A9-8230-23EF807FB1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368" y="1579332"/>
            <a:ext cx="11277600" cy="4191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05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shares files safely by combining hybrid cryptography, steganography and integrity checks.</a:t>
            </a:r>
          </a:p>
          <a:p>
            <a:pPr marL="285750" indent="-285750">
              <a:lnSpc>
                <a:spcPct val="105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AES-256-GCM protects the file, while the receiver’s public key protects the AES key.</a:t>
            </a:r>
          </a:p>
          <a:p>
            <a:pPr marL="285750" indent="-285750">
              <a:lnSpc>
                <a:spcPct val="105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encrypted file hides inside a PNG, so nobody notices a secret is being sent.</a:t>
            </a:r>
          </a:p>
          <a:p>
            <a:pPr marL="285750" indent="-285750">
              <a:lnSpc>
                <a:spcPct val="105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Any tampering or wrong key is caught immediately, so only the right person gets the file.</a:t>
            </a:r>
          </a:p>
          <a:p>
            <a:pPr marL="285750" indent="-285750">
              <a:lnSpc>
                <a:spcPct val="105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result is three layers of defence: confidentiality, secrecy and integrity.</a:t>
            </a:r>
          </a:p>
        </p:txBody>
      </p:sp>
      <p:pic>
        <p:nvPicPr>
          <p:cNvPr id="3" name="object 4">
            <a:extLst>
              <a:ext uri="{FF2B5EF4-FFF2-40B4-BE49-F238E27FC236}">
                <a16:creationId xmlns:a16="http://schemas.microsoft.com/office/drawing/2014/main" id="{E42DAEDD-E631-EADE-D88B-99BB2B2CB4B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38712" y="147946"/>
            <a:ext cx="1256665" cy="1256665"/>
          </a:xfrm>
          <a:prstGeom prst="rect">
            <a:avLst/>
          </a:prstGeom>
        </p:spPr>
      </p:pic>
      <p:pic>
        <p:nvPicPr>
          <p:cNvPr id="7" name="object 5">
            <a:extLst>
              <a:ext uri="{FF2B5EF4-FFF2-40B4-BE49-F238E27FC236}">
                <a16:creationId xmlns:a16="http://schemas.microsoft.com/office/drawing/2014/main" id="{BABF248B-80A1-274A-ECEE-E525B0AF4C80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448" y="78733"/>
            <a:ext cx="1010285" cy="1276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35370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86BB18F-BA07-46FE-A606-D0996AE4ED63}"/>
              </a:ext>
            </a:extLst>
          </p:cNvPr>
          <p:cNvSpPr/>
          <p:nvPr/>
        </p:nvSpPr>
        <p:spPr>
          <a:xfrm>
            <a:off x="4456489" y="221565"/>
            <a:ext cx="259878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sz="2800" b="1" dirty="0">
                <a:latin typeface="Times New Roman" panose="02020603050405020304" charset="0"/>
                <a:cs typeface="Times New Roman" panose="02020603050405020304" charset="0"/>
              </a:rPr>
              <a:t>REFERENCES</a:t>
            </a:r>
            <a:endParaRPr lang="en-IN" sz="2800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A91E2D72-AD67-4F26-8E7C-6EF8220F98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3644" y="1560137"/>
            <a:ext cx="11053400" cy="500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05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M. Alanzy, R. Alomrani, B. Alqarni and S. Almutairi, “Image Steganography Using LSB and Hybrid Encryption Algorithms,” Applied Sciences, vol. 13, no. 21, p. 11771, 2023.</a:t>
            </a:r>
          </a:p>
          <a:p>
            <a:pPr marL="285750" indent="-285750">
              <a:lnSpc>
                <a:spcPct val="105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Tanu et al., “Hybrid Steganography: A Multi-Layered Framework for Hybrid Text and Image Concealment Enhanced by AES and LSB Techniques,” 16th International Conference on Security of Information and Networks (SIN), IEEE, 2023.</a:t>
            </a:r>
          </a:p>
          <a:p>
            <a:pPr marL="285750" indent="-285750">
              <a:lnSpc>
                <a:spcPct val="105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National Institute of Standards and Technology, “Module-Lattice-Based Key-Encapsulation Mechanism Standard,” FIPS 203, Aug. 2024.</a:t>
            </a:r>
          </a:p>
          <a:p>
            <a:pPr marL="285750" indent="-285750">
              <a:lnSpc>
                <a:spcPct val="105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Umm e Amara, “Using Cryptography and Steganography Techniques for Data Security,” MS Thesis, COMSATS University Islamabad, Lahore Campus, 2025.</a:t>
            </a:r>
          </a:p>
          <a:p>
            <a:pPr marL="285750" indent="-285750">
              <a:lnSpc>
                <a:spcPct val="105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Cryptographic Authority, “cryptography” library documentation (AES-GCM, RSA-OAEP), cryptography.io, accessed 2026.</a:t>
            </a:r>
          </a:p>
        </p:txBody>
      </p:sp>
      <p:pic>
        <p:nvPicPr>
          <p:cNvPr id="3" name="object 4">
            <a:extLst>
              <a:ext uri="{FF2B5EF4-FFF2-40B4-BE49-F238E27FC236}">
                <a16:creationId xmlns:a16="http://schemas.microsoft.com/office/drawing/2014/main" id="{B23315D9-CD3B-DC28-9F30-C08A8A946D2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38712" y="80211"/>
            <a:ext cx="1256665" cy="919790"/>
          </a:xfrm>
          <a:prstGeom prst="rect">
            <a:avLst/>
          </a:prstGeom>
        </p:spPr>
      </p:pic>
      <p:pic>
        <p:nvPicPr>
          <p:cNvPr id="7" name="object 5">
            <a:extLst>
              <a:ext uri="{FF2B5EF4-FFF2-40B4-BE49-F238E27FC236}">
                <a16:creationId xmlns:a16="http://schemas.microsoft.com/office/drawing/2014/main" id="{EA8F1E85-753E-EFC2-7274-80AE074135ED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448" y="78733"/>
            <a:ext cx="1010285" cy="919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99053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C13F1-7C80-460E-9CCB-E5D815B4C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057291FF-E73A-4FBC-B6A8-0E9555CF37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5202471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729016-A6AC-8AF8-9B4B-1766E14DAC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6529429-C9AC-A8D6-563D-D0C3D1A053F1}"/>
              </a:ext>
            </a:extLst>
          </p:cNvPr>
          <p:cNvSpPr/>
          <p:nvPr/>
        </p:nvSpPr>
        <p:spPr>
          <a:xfrm>
            <a:off x="390325" y="301109"/>
            <a:ext cx="1107175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Testing: StegExpose and zsteg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06A0CBC-9588-9726-5688-667FF36D52AA}"/>
              </a:ext>
            </a:extLst>
          </p:cNvPr>
          <p:cNvSpPr/>
          <p:nvPr/>
        </p:nvSpPr>
        <p:spPr>
          <a:xfrm>
            <a:off x="542725" y="1050000"/>
            <a:ext cx="7400000" cy="490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Implementation:</a:t>
            </a:r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 zsteg on stego.png to look for hidden text or files</a:t>
            </a:r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 StegExpose (RS, Sample Pairs, Chi-square tests)</a:t>
            </a:r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Repeat at low and high embedding rates</a:t>
            </a:r>
          </a:p>
          <a:p>
            <a:pPr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Output (hospital example):</a:t>
            </a:r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zsteg finds no readable text or file signature</a:t>
            </a:r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StegExpose detection score stays low for a 50 KB payload</a:t>
            </a:r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higher embedding rate raises the score (known limit)</a:t>
            </a:r>
          </a:p>
          <a:p>
            <a:pPr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zsteg (Ruby), StegExpose (Java), Pillow, NumPy</a:t>
            </a:r>
          </a:p>
          <a:p>
            <a:pPr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our example: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Anita’s 50 KB report in a hospital photo is expected to pass both checks.</a:t>
            </a:r>
          </a:p>
        </p:txBody>
      </p:sp>
      <p:pic>
        <p:nvPicPr>
          <p:cNvPr id="4098" name="Picture 2" descr="zsteg and StegExpose steganalysis checks on the stego PNG">
            <a:extLst>
              <a:ext uri="{FF2B5EF4-FFF2-40B4-BE49-F238E27FC236}">
                <a16:creationId xmlns:a16="http://schemas.microsoft.com/office/drawing/2014/main" id="{EB505CAD-6DC5-DF73-DC14-DF3224AFD4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0000" y="1250000"/>
            <a:ext cx="3600000" cy="435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object 4">
            <a:extLst>
              <a:ext uri="{FF2B5EF4-FFF2-40B4-BE49-F238E27FC236}">
                <a16:creationId xmlns:a16="http://schemas.microsoft.com/office/drawing/2014/main" id="{F1FE30FD-85F2-A41E-3074-35A9F1F6941B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38712" y="147946"/>
            <a:ext cx="1256665" cy="999065"/>
          </a:xfrm>
          <a:prstGeom prst="rect">
            <a:avLst/>
          </a:prstGeom>
        </p:spPr>
      </p:pic>
      <p:pic>
        <p:nvPicPr>
          <p:cNvPr id="7" name="object 5">
            <a:extLst>
              <a:ext uri="{FF2B5EF4-FFF2-40B4-BE49-F238E27FC236}">
                <a16:creationId xmlns:a16="http://schemas.microsoft.com/office/drawing/2014/main" id="{CA9EBE93-CF4E-7022-0815-F760C6FE06C8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3448" y="78733"/>
            <a:ext cx="1010285" cy="999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2373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729016-A6AC-8AF8-9B4B-1766E14DAC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6529429-C9AC-A8D6-563D-D0C3D1A053F1}"/>
              </a:ext>
            </a:extLst>
          </p:cNvPr>
          <p:cNvSpPr/>
          <p:nvPr/>
        </p:nvSpPr>
        <p:spPr>
          <a:xfrm>
            <a:off x="390325" y="301109"/>
            <a:ext cx="1107175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Testing: Wireshark Traffic Analysis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06A0CBC-9588-9726-5688-667FF36D52AA}"/>
              </a:ext>
            </a:extLst>
          </p:cNvPr>
          <p:cNvSpPr/>
          <p:nvPr/>
        </p:nvSpPr>
        <p:spPr>
          <a:xfrm>
            <a:off x="542725" y="1050000"/>
            <a:ext cx="7400000" cy="490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Implementation:</a:t>
            </a:r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Capture packets on public Wi-Fi while the file is shared</a:t>
            </a:r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the http filter and use Follow TCP Stream</a:t>
            </a:r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a plain report.pdf with the stego PNG</a:t>
            </a:r>
          </a:p>
          <a:p>
            <a:pPr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Output (hospital example):</a:t>
            </a:r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Plain PDF: patient name and test values are readable</a:t>
            </a:r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Stego PNG: only image bytes, no readable text</a:t>
            </a:r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hacker sees a normal photo, not a report</a:t>
            </a:r>
          </a:p>
          <a:p>
            <a:pPr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Wireshark (packet analyser), Streamlit app over HTTP</a:t>
            </a:r>
          </a:p>
          <a:p>
            <a:pPr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our example: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hacker on public Wi-Fi captures Anita’s upload but cannot read the report.</a:t>
            </a:r>
          </a:p>
        </p:txBody>
      </p:sp>
      <p:pic>
        <p:nvPicPr>
          <p:cNvPr id="4098" name="Picture 2" descr="Wireshark capture comparison: plain PDF readable, stego PNG unreadable">
            <a:extLst>
              <a:ext uri="{FF2B5EF4-FFF2-40B4-BE49-F238E27FC236}">
                <a16:creationId xmlns:a16="http://schemas.microsoft.com/office/drawing/2014/main" id="{EB505CAD-6DC5-DF73-DC14-DF3224AFD4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0000" y="1250000"/>
            <a:ext cx="3600000" cy="435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object 4">
            <a:extLst>
              <a:ext uri="{FF2B5EF4-FFF2-40B4-BE49-F238E27FC236}">
                <a16:creationId xmlns:a16="http://schemas.microsoft.com/office/drawing/2014/main" id="{F1FE30FD-85F2-A41E-3074-35A9F1F6941B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38712" y="147946"/>
            <a:ext cx="1256665" cy="999065"/>
          </a:xfrm>
          <a:prstGeom prst="rect">
            <a:avLst/>
          </a:prstGeom>
        </p:spPr>
      </p:pic>
      <p:pic>
        <p:nvPicPr>
          <p:cNvPr id="7" name="object 5">
            <a:extLst>
              <a:ext uri="{FF2B5EF4-FFF2-40B4-BE49-F238E27FC236}">
                <a16:creationId xmlns:a16="http://schemas.microsoft.com/office/drawing/2014/main" id="{CA9EBE93-CF4E-7022-0815-F760C6FE06C8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3448" y="78733"/>
            <a:ext cx="1010285" cy="999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2373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AD6E7-4C01-45AC-C1AD-CB97DEC33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TESTING TOOLS</a:t>
            </a:r>
          </a:p>
        </p:txBody>
      </p:sp>
      <p:pic>
        <p:nvPicPr>
          <p:cNvPr id="5" name="object 4">
            <a:extLst>
              <a:ext uri="{FF2B5EF4-FFF2-40B4-BE49-F238E27FC236}">
                <a16:creationId xmlns:a16="http://schemas.microsoft.com/office/drawing/2014/main" id="{A263653A-21FE-5FF9-26EB-83AC7772AA9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25467" y="155967"/>
            <a:ext cx="1256665" cy="1256665"/>
          </a:xfrm>
          <a:prstGeom prst="rect">
            <a:avLst/>
          </a:prstGeom>
        </p:spPr>
      </p:pic>
      <p:pic>
        <p:nvPicPr>
          <p:cNvPr id="7" name="object 5">
            <a:extLst>
              <a:ext uri="{FF2B5EF4-FFF2-40B4-BE49-F238E27FC236}">
                <a16:creationId xmlns:a16="http://schemas.microsoft.com/office/drawing/2014/main" id="{36FFCB1B-9854-473B-8C1F-4CDDB8AE1DBB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448" y="78733"/>
            <a:ext cx="1010285" cy="1276826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5800" y="1828800"/>
          <a:ext cx="107899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2286000"/>
                <a:gridCol w="914400"/>
                <a:gridCol w="4480560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Tool</a:t>
                      </a:r>
                    </a:p>
                  </a:txBody>
                  <a:tcPr anchor="ctr" marL="73152" marR="73152" marT="36576" marB="36576">
                    <a:solidFill>
                      <a:srgbClr val="1F3A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Test Type</a:t>
                      </a:r>
                    </a:p>
                  </a:txBody>
                  <a:tcPr anchor="ctr" marL="73152" marR="73152" marT="36576" marB="36576">
                    <a:solidFill>
                      <a:srgbClr val="1F3A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Module</a:t>
                      </a:r>
                    </a:p>
                  </a:txBody>
                  <a:tcPr anchor="ctr" marL="73152" marR="73152" marT="36576" marB="36576">
                    <a:solidFill>
                      <a:srgbClr val="1F3A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What It Proves</a:t>
                      </a:r>
                    </a:p>
                  </a:txBody>
                  <a:tcPr anchor="ctr" marL="73152" marR="73152" marT="36576" marB="36576">
                    <a:solidFill>
                      <a:srgbClr val="1F3A6E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A1A1A"/>
                          </a:solidFill>
                          <a:latin typeface="Times New Roman"/>
                        </a:rPr>
                        <a:t>Wireshark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Times New Roman"/>
                        </a:rPr>
                        <a:t>Network traffic capture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Times New Roman"/>
                        </a:rPr>
                        <a:t>4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Times New Roman"/>
                        </a:rPr>
                        <a:t>Traffic captured on public Wi-Fi shows no readable report text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A1A1A"/>
                          </a:solidFill>
                          <a:latin typeface="Times New Roman"/>
                        </a:rPr>
                        <a:t>zsteg</a:t>
                      </a:r>
                    </a:p>
                  </a:txBody>
                  <a:tcPr anchor="ctr" marL="73152" marR="73152" marT="36576" marB="36576">
                    <a:solidFill>
                      <a:srgbClr val="EAEF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Times New Roman"/>
                        </a:rPr>
                        <a:t>LSB steganalysis</a:t>
                      </a:r>
                    </a:p>
                  </a:txBody>
                  <a:tcPr anchor="ctr" marL="73152" marR="73152" marT="36576" marB="36576">
                    <a:solidFill>
                      <a:srgbClr val="EAEF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Times New Roman"/>
                        </a:rPr>
                        <a:t>4</a:t>
                      </a:r>
                    </a:p>
                  </a:txBody>
                  <a:tcPr anchor="ctr" marL="73152" marR="73152" marT="36576" marB="36576">
                    <a:solidFill>
                      <a:srgbClr val="EAEF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Times New Roman"/>
                        </a:rPr>
                        <a:t>Searches the stego PNG for hidden text or file signatures</a:t>
                      </a:r>
                    </a:p>
                  </a:txBody>
                  <a:tcPr anchor="ctr" marL="73152" marR="73152" marT="36576" marB="36576">
                    <a:solidFill>
                      <a:srgbClr val="EAEFF7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A1A1A"/>
                          </a:solidFill>
                          <a:latin typeface="Times New Roman"/>
                        </a:rPr>
                        <a:t>StegExpose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Times New Roman"/>
                        </a:rPr>
                        <a:t>Statistical steganalysis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Times New Roman"/>
                        </a:rPr>
                        <a:t>4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Times New Roman"/>
                        </a:rPr>
                        <a:t>RS, Sample Pairs and Chi-square tests rate how detectable the hiding is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A1A1A"/>
                          </a:solidFill>
                          <a:latin typeface="Times New Roman"/>
                        </a:rPr>
                        <a:t>Bit-flip and wrong-key test</a:t>
                      </a:r>
                    </a:p>
                  </a:txBody>
                  <a:tcPr anchor="ctr" marL="73152" marR="73152" marT="36576" marB="36576">
                    <a:solidFill>
                      <a:srgbClr val="EAEF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Times New Roman"/>
                        </a:rPr>
                        <a:t>Tamper test</a:t>
                      </a:r>
                    </a:p>
                  </a:txBody>
                  <a:tcPr anchor="ctr" marL="73152" marR="73152" marT="36576" marB="36576">
                    <a:solidFill>
                      <a:srgbClr val="EAEF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Times New Roman"/>
                        </a:rPr>
                        <a:t>4</a:t>
                      </a:r>
                    </a:p>
                  </a:txBody>
                  <a:tcPr anchor="ctr" marL="73152" marR="73152" marT="36576" marB="36576">
                    <a:solidFill>
                      <a:srgbClr val="EAEF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Times New Roman"/>
                        </a:rPr>
                        <a:t>GCM tag fails and a TAMPER ALERT is raised</a:t>
                      </a:r>
                    </a:p>
                  </a:txBody>
                  <a:tcPr anchor="ctr" marL="73152" marR="73152" marT="36576" marB="36576">
                    <a:solidFill>
                      <a:srgbClr val="EAEFF7"/>
                    </a:solidFill>
                  </a:tcPr>
                </a:tc>
              </a:tr>
            </a:tbl>
          </a:graphicData>
        </a:graphic>
      </p:graphicFrame>
      <p:sp>
        <p:nvSpPr>
          <p:cNvPr id="20" name="Testing Note"/>
          <p:cNvSpPr txBox="1"/>
          <p:nvPr/>
        </p:nvSpPr>
        <p:spPr>
          <a:xfrm>
            <a:off x="685800" y="5050000"/>
            <a:ext cx="10789920" cy="100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test: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security system is trusted only after we try to break it. Wireshark shows the network view of an attacker.</a:t>
            </a:r>
          </a:p>
          <a:p>
            <a:pPr>
              <a:spcAft>
                <a:spcPts val="600"/>
              </a:spcAft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view: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zsteg and StegExpose show whether the stego image can be detected, so we know how well the secret is hidden.</a:t>
            </a:r>
          </a:p>
        </p:txBody>
      </p:sp>
    </p:spTree>
    <p:extLst>
      <p:ext uri="{BB962C8B-B14F-4D97-AF65-F5344CB8AC3E}">
        <p14:creationId xmlns:p14="http://schemas.microsoft.com/office/powerpoint/2010/main" val="6400541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456</TotalTime>
  <Words>1258</Words>
  <Application>Microsoft Office PowerPoint</Application>
  <PresentationFormat>Widescreen</PresentationFormat>
  <Paragraphs>159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MODULES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jaya krishna</cp:lastModifiedBy>
  <cp:revision>20</cp:revision>
  <dcterms:created xsi:type="dcterms:W3CDTF">2026-01-30T03:40:50Z</dcterms:created>
  <dcterms:modified xsi:type="dcterms:W3CDTF">2026-10-10T05:26:16Z</dcterms:modified>
</cp:coreProperties>
</file>